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2"/>
  </p:handout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7" r:id="rId17"/>
    <p:sldId id="276" r:id="rId18"/>
    <p:sldId id="275" r:id="rId19"/>
    <p:sldId id="274" r:id="rId20"/>
    <p:sldId id="258" r:id="rId2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9" d="100"/>
          <a:sy n="69" d="100"/>
        </p:scale>
        <p:origin x="738" y="60"/>
      </p:cViewPr>
      <p:guideLst/>
    </p:cSldViewPr>
  </p:slideViewPr>
  <p:notesTextViewPr>
    <p:cViewPr>
      <p:scale>
        <a:sx n="1" d="1"/>
        <a:sy n="1" d="1"/>
      </p:scale>
      <p:origin x="0" y="0"/>
    </p:cViewPr>
  </p:notesTextViewPr>
  <p:notesViewPr>
    <p:cSldViewPr snapToGrid="0">
      <p:cViewPr varScale="1">
        <p:scale>
          <a:sx n="59" d="100"/>
          <a:sy n="59" d="100"/>
        </p:scale>
        <p:origin x="300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A58399-82A5-4F04-8671-5E74070C5E00}" type="datetimeFigureOut">
              <a:rPr lang="es-CO" smtClean="0"/>
              <a:t>31/03/2026</a:t>
            </a:fld>
            <a:endParaRPr lang="es-CO"/>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48860C-7A71-4B72-8FEA-842AAAFCC024}" type="slidenum">
              <a:rPr lang="es-CO" smtClean="0"/>
              <a:t>‹Nº›</a:t>
            </a:fld>
            <a:endParaRPr lang="es-CO"/>
          </a:p>
        </p:txBody>
      </p:sp>
    </p:spTree>
    <p:extLst>
      <p:ext uri="{BB962C8B-B14F-4D97-AF65-F5344CB8AC3E}">
        <p14:creationId xmlns:p14="http://schemas.microsoft.com/office/powerpoint/2010/main" val="128026605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6391467" y="4348064"/>
            <a:ext cx="5411758" cy="1334278"/>
          </a:xfrm>
        </p:spPr>
        <p:txBody>
          <a:bodyPr anchor="b">
            <a:normAutofit/>
          </a:bodyPr>
          <a:lstStyle>
            <a:lvl1pPr algn="l">
              <a:defRPr sz="3600">
                <a:solidFill>
                  <a:schemeClr val="tx1"/>
                </a:solidFill>
              </a:defRPr>
            </a:lvl1pPr>
          </a:lstStyle>
          <a:p>
            <a:r>
              <a:rPr lang="es-ES" dirty="0"/>
              <a:t>Haga clic para modificar el estilo de título del patrón</a:t>
            </a:r>
            <a:endParaRPr lang="es-CO" dirty="0"/>
          </a:p>
        </p:txBody>
      </p:sp>
      <p:sp>
        <p:nvSpPr>
          <p:cNvPr id="3" name="Subtítulo 2"/>
          <p:cNvSpPr>
            <a:spLocks noGrp="1"/>
          </p:cNvSpPr>
          <p:nvPr>
            <p:ph type="subTitle" idx="1"/>
          </p:nvPr>
        </p:nvSpPr>
        <p:spPr>
          <a:xfrm>
            <a:off x="6391468" y="5682342"/>
            <a:ext cx="5411758" cy="522092"/>
          </a:xfrm>
        </p:spPr>
        <p:txBody>
          <a:bodyPr>
            <a:normAutofit/>
          </a:bodyPr>
          <a:lstStyle>
            <a:lvl1pPr marL="0" indent="0" algn="l">
              <a:buNone/>
              <a:defRPr sz="1800" i="1" u="none">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CO" dirty="0"/>
          </a:p>
        </p:txBody>
      </p:sp>
    </p:spTree>
    <p:extLst>
      <p:ext uri="{BB962C8B-B14F-4D97-AF65-F5344CB8AC3E}">
        <p14:creationId xmlns:p14="http://schemas.microsoft.com/office/powerpoint/2010/main" val="3954785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3879961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Tree>
    <p:extLst>
      <p:ext uri="{BB962C8B-B14F-4D97-AF65-F5344CB8AC3E}">
        <p14:creationId xmlns:p14="http://schemas.microsoft.com/office/powerpoint/2010/main" val="487898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Tree>
    <p:extLst>
      <p:ext uri="{BB962C8B-B14F-4D97-AF65-F5344CB8AC3E}">
        <p14:creationId xmlns:p14="http://schemas.microsoft.com/office/powerpoint/2010/main" val="2363837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8200" y="952950"/>
            <a:ext cx="10515600" cy="1325563"/>
          </a:xfrm>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2376132"/>
            <a:ext cx="5181600" cy="410864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2376132"/>
            <a:ext cx="5181600" cy="410864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2693933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9788" y="812989"/>
            <a:ext cx="10515600" cy="126725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2129027"/>
            <a:ext cx="5157787" cy="78766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952939"/>
            <a:ext cx="5157787" cy="352250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2129027"/>
            <a:ext cx="5183188" cy="8086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952939"/>
            <a:ext cx="5183188" cy="3522506"/>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2742784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Tree>
    <p:extLst>
      <p:ext uri="{BB962C8B-B14F-4D97-AF65-F5344CB8AC3E}">
        <p14:creationId xmlns:p14="http://schemas.microsoft.com/office/powerpoint/2010/main" val="1229399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arcador de fecha 1"/>
          <p:cNvSpPr>
            <a:spLocks noGrp="1"/>
          </p:cNvSpPr>
          <p:nvPr>
            <p:ph type="dt" sz="half" idx="10"/>
          </p:nvPr>
        </p:nvSpPr>
        <p:spPr>
          <a:xfrm>
            <a:off x="838200" y="6356350"/>
            <a:ext cx="2743200" cy="365125"/>
          </a:xfrm>
          <a:prstGeom prst="rect">
            <a:avLst/>
          </a:prstGeom>
        </p:spPr>
        <p:txBody>
          <a:bodyPr/>
          <a:lstStyle/>
          <a:p>
            <a:fld id="{AF0FCD54-9834-4BE8-9B5B-EEF02B5391B3}" type="datetimeFigureOut">
              <a:rPr lang="es-CO" smtClean="0"/>
              <a:t>31/03/2026</a:t>
            </a:fld>
            <a:endParaRPr lang="es-CO"/>
          </a:p>
        </p:txBody>
      </p:sp>
      <p:sp>
        <p:nvSpPr>
          <p:cNvPr id="3" name="Marcador de pie de página 2"/>
          <p:cNvSpPr>
            <a:spLocks noGrp="1"/>
          </p:cNvSpPr>
          <p:nvPr>
            <p:ph type="ftr" sz="quarter" idx="11"/>
          </p:nvPr>
        </p:nvSpPr>
        <p:spPr>
          <a:xfrm>
            <a:off x="4038600" y="6356350"/>
            <a:ext cx="4114800" cy="365125"/>
          </a:xfrm>
          <a:prstGeom prst="rect">
            <a:avLst/>
          </a:prstGeom>
        </p:spPr>
        <p:txBody>
          <a:bodyPr/>
          <a:lstStyle/>
          <a:p>
            <a:endParaRPr lang="es-CO"/>
          </a:p>
        </p:txBody>
      </p:sp>
      <p:sp>
        <p:nvSpPr>
          <p:cNvPr id="4" name="Marcador de número de diapositiva 3"/>
          <p:cNvSpPr>
            <a:spLocks noGrp="1"/>
          </p:cNvSpPr>
          <p:nvPr>
            <p:ph type="sldNum" sz="quarter" idx="12"/>
          </p:nvPr>
        </p:nvSpPr>
        <p:spPr>
          <a:xfrm>
            <a:off x="8610600" y="6356350"/>
            <a:ext cx="2743200" cy="365125"/>
          </a:xfrm>
          <a:prstGeom prst="rect">
            <a:avLst/>
          </a:prstGeom>
        </p:spPr>
        <p:txBody>
          <a:bodyPr/>
          <a:lstStyle/>
          <a:p>
            <a:fld id="{21EAACC5-580A-406C-9362-EA1B95EDA8C1}" type="slidenum">
              <a:rPr lang="es-CO" smtClean="0"/>
              <a:t>‹Nº›</a:t>
            </a:fld>
            <a:endParaRPr lang="es-CO"/>
          </a:p>
        </p:txBody>
      </p:sp>
    </p:spTree>
    <p:extLst>
      <p:ext uri="{BB962C8B-B14F-4D97-AF65-F5344CB8AC3E}">
        <p14:creationId xmlns:p14="http://schemas.microsoft.com/office/powerpoint/2010/main" val="844474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Tree>
    <p:extLst>
      <p:ext uri="{BB962C8B-B14F-4D97-AF65-F5344CB8AC3E}">
        <p14:creationId xmlns:p14="http://schemas.microsoft.com/office/powerpoint/2010/main" val="317989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Tree>
    <p:extLst>
      <p:ext uri="{BB962C8B-B14F-4D97-AF65-F5344CB8AC3E}">
        <p14:creationId xmlns:p14="http://schemas.microsoft.com/office/powerpoint/2010/main" val="2374630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6730380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65188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438538" y="365125"/>
            <a:ext cx="7060941"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781938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077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1110313"/>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CO" dirty="0"/>
          </a:p>
        </p:txBody>
      </p:sp>
      <p:sp>
        <p:nvSpPr>
          <p:cNvPr id="3" name="Marcador de texto 2"/>
          <p:cNvSpPr>
            <a:spLocks noGrp="1"/>
          </p:cNvSpPr>
          <p:nvPr>
            <p:ph type="body" idx="1"/>
          </p:nvPr>
        </p:nvSpPr>
        <p:spPr>
          <a:xfrm>
            <a:off x="838200" y="2570813"/>
            <a:ext cx="10515600" cy="3828726"/>
          </a:xfrm>
          <a:prstGeom prst="rect">
            <a:avLst/>
          </a:prstGeom>
        </p:spPr>
        <p:txBody>
          <a:bodyPr vert="horz" lIns="91440" tIns="45720" rIns="9144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3863979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C0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6391468" y="4918362"/>
            <a:ext cx="5411758" cy="625433"/>
          </a:xfrm>
        </p:spPr>
        <p:txBody>
          <a:bodyPr/>
          <a:lstStyle/>
          <a:p>
            <a:r>
              <a:rPr lang="es-CO" b="1" i="0" dirty="0">
                <a:effectLst/>
                <a:latin typeface="Times New Roman" panose="02020603050405020304" pitchFamily="18" charset="0"/>
                <a:cs typeface="Times New Roman" panose="02020603050405020304" pitchFamily="18" charset="0"/>
              </a:rPr>
              <a:t>Heart </a:t>
            </a:r>
            <a:r>
              <a:rPr lang="es-CO" b="1" i="0" dirty="0" err="1">
                <a:effectLst/>
                <a:latin typeface="Times New Roman" panose="02020603050405020304" pitchFamily="18" charset="0"/>
                <a:cs typeface="Times New Roman" panose="02020603050405020304" pitchFamily="18" charset="0"/>
              </a:rPr>
              <a:t>Disease</a:t>
            </a:r>
            <a:r>
              <a:rPr lang="es-CO" b="1" i="0" dirty="0">
                <a:effectLst/>
                <a:latin typeface="Times New Roman" panose="02020603050405020304" pitchFamily="18" charset="0"/>
                <a:cs typeface="Times New Roman" panose="02020603050405020304" pitchFamily="18" charset="0"/>
              </a:rPr>
              <a:t> </a:t>
            </a:r>
            <a:r>
              <a:rPr lang="es-CO" b="1" i="0" dirty="0" err="1">
                <a:effectLst/>
                <a:latin typeface="Times New Roman" panose="02020603050405020304" pitchFamily="18" charset="0"/>
                <a:cs typeface="Times New Roman" panose="02020603050405020304" pitchFamily="18" charset="0"/>
              </a:rPr>
              <a:t>Dataset</a:t>
            </a:r>
            <a:endParaRPr lang="es-CO" dirty="0">
              <a:latin typeface="Times New Roman" panose="02020603050405020304" pitchFamily="18" charset="0"/>
              <a:cs typeface="Times New Roman" panose="02020603050405020304" pitchFamily="18" charset="0"/>
            </a:endParaRPr>
          </a:p>
        </p:txBody>
      </p:sp>
      <p:sp>
        <p:nvSpPr>
          <p:cNvPr id="3" name="Subtítulo 2"/>
          <p:cNvSpPr>
            <a:spLocks noGrp="1"/>
          </p:cNvSpPr>
          <p:nvPr>
            <p:ph type="subTitle" idx="1"/>
          </p:nvPr>
        </p:nvSpPr>
        <p:spPr>
          <a:xfrm>
            <a:off x="6391468" y="5543795"/>
            <a:ext cx="5411758" cy="882312"/>
          </a:xfrm>
        </p:spPr>
        <p:txBody>
          <a:bodyPr>
            <a:normAutofit/>
          </a:bodyPr>
          <a:lstStyle/>
          <a:p>
            <a:r>
              <a:rPr lang="es-CO" dirty="0"/>
              <a:t>Juan David Rojas </a:t>
            </a:r>
          </a:p>
          <a:p>
            <a:r>
              <a:rPr lang="es-CO" dirty="0"/>
              <a:t>Andrés Steeven Oyuela</a:t>
            </a:r>
          </a:p>
        </p:txBody>
      </p:sp>
    </p:spTree>
    <p:extLst>
      <p:ext uri="{BB962C8B-B14F-4D97-AF65-F5344CB8AC3E}">
        <p14:creationId xmlns:p14="http://schemas.microsoft.com/office/powerpoint/2010/main" val="1286470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51164"/>
            <a:ext cx="10515600" cy="870312"/>
          </a:xfrm>
        </p:spPr>
        <p:txBody>
          <a:bodyPr>
            <a:normAutofit/>
          </a:bodyPr>
          <a:lstStyle/>
          <a:p>
            <a:r>
              <a:rPr lang="es-ES" b="1" dirty="0">
                <a:effectLst/>
                <a:latin typeface="Times New Roman" panose="02020603050405020304" pitchFamily="18" charset="0"/>
                <a:cs typeface="Times New Roman" panose="02020603050405020304" pitchFamily="18" charset="0"/>
              </a:rPr>
              <a:t>Diseño del problema y del modelo</a:t>
            </a:r>
            <a:endParaRPr lang="es-CO" dirty="0">
              <a:latin typeface="Times New Roman" panose="02020603050405020304" pitchFamily="18" charset="0"/>
              <a:cs typeface="Times New Roman" panose="02020603050405020304" pitchFamily="18" charset="0"/>
            </a:endParaRPr>
          </a:p>
        </p:txBody>
      </p:sp>
      <p:sp>
        <p:nvSpPr>
          <p:cNvPr id="3" name="Marcador de contenido 2"/>
          <p:cNvSpPr>
            <a:spLocks noGrp="1"/>
          </p:cNvSpPr>
          <p:nvPr>
            <p:ph idx="1"/>
          </p:nvPr>
        </p:nvSpPr>
        <p:spPr>
          <a:xfrm>
            <a:off x="755070" y="2266015"/>
            <a:ext cx="3138055" cy="1564768"/>
          </a:xfrm>
        </p:spPr>
        <p:txBody>
          <a:bodyPr>
            <a:normAutofit/>
          </a:bodyPr>
          <a:lstStyle/>
          <a:p>
            <a:pPr marL="0" indent="0" algn="just">
              <a:buNone/>
            </a:pPr>
            <a:r>
              <a:rPr lang="es-ES" sz="2000" b="0" dirty="0">
                <a:effectLst/>
                <a:latin typeface="Times New Roman" panose="02020603050405020304" pitchFamily="18" charset="0"/>
                <a:cs typeface="Times New Roman" panose="02020603050405020304" pitchFamily="18" charset="0"/>
              </a:rPr>
              <a:t>El conjunto de datos seleccionado corresponde a pacientes evaluados para determinar la presencia de enfermedad cardíaca. </a:t>
            </a:r>
          </a:p>
        </p:txBody>
      </p:sp>
      <p:sp>
        <p:nvSpPr>
          <p:cNvPr id="4" name="Marcador de contenido 2">
            <a:extLst>
              <a:ext uri="{FF2B5EF4-FFF2-40B4-BE49-F238E27FC236}">
                <a16:creationId xmlns:a16="http://schemas.microsoft.com/office/drawing/2014/main" id="{13AFFE40-866F-9844-5F11-73B39541D889}"/>
              </a:ext>
            </a:extLst>
          </p:cNvPr>
          <p:cNvSpPr txBox="1">
            <a:spLocks/>
          </p:cNvSpPr>
          <p:nvPr/>
        </p:nvSpPr>
        <p:spPr>
          <a:xfrm>
            <a:off x="755070" y="4186231"/>
            <a:ext cx="3138055" cy="15647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C0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2000" b="0" dirty="0">
                <a:effectLst/>
                <a:latin typeface="Times New Roman" panose="02020603050405020304" pitchFamily="18" charset="0"/>
                <a:cs typeface="Times New Roman" panose="02020603050405020304" pitchFamily="18" charset="0"/>
              </a:rPr>
              <a:t>El objetivo del proyecto es predecir si una persona presenta o no enfermedad cardíaca a partir de variables clínicas.</a:t>
            </a:r>
          </a:p>
        </p:txBody>
      </p:sp>
      <p:sp>
        <p:nvSpPr>
          <p:cNvPr id="6" name="Marcador de contenido 2">
            <a:extLst>
              <a:ext uri="{FF2B5EF4-FFF2-40B4-BE49-F238E27FC236}">
                <a16:creationId xmlns:a16="http://schemas.microsoft.com/office/drawing/2014/main" id="{C5E57E44-8186-492B-1CCB-8C8C81343D50}"/>
              </a:ext>
            </a:extLst>
          </p:cNvPr>
          <p:cNvSpPr txBox="1">
            <a:spLocks/>
          </p:cNvSpPr>
          <p:nvPr/>
        </p:nvSpPr>
        <p:spPr>
          <a:xfrm>
            <a:off x="4772888" y="2660470"/>
            <a:ext cx="3138055" cy="26596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C0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2000" b="0" dirty="0">
                <a:effectLst/>
                <a:latin typeface="Times New Roman" panose="02020603050405020304" pitchFamily="18" charset="0"/>
                <a:cs typeface="Times New Roman" panose="02020603050405020304" pitchFamily="18" charset="0"/>
              </a:rPr>
              <a:t>Este es un problema de </a:t>
            </a:r>
            <a:r>
              <a:rPr lang="es-ES" sz="2000" b="1" dirty="0">
                <a:effectLst/>
                <a:latin typeface="Times New Roman" panose="02020603050405020304" pitchFamily="18" charset="0"/>
                <a:cs typeface="Times New Roman" panose="02020603050405020304" pitchFamily="18" charset="0"/>
              </a:rPr>
              <a:t>clasificación binaria</a:t>
            </a:r>
            <a:r>
              <a:rPr lang="es-ES" sz="2000" b="0" dirty="0">
                <a:effectLst/>
                <a:latin typeface="Times New Roman" panose="02020603050405020304" pitchFamily="18" charset="0"/>
                <a:cs typeface="Times New Roman" panose="02020603050405020304" pitchFamily="18" charset="0"/>
              </a:rPr>
              <a:t>, porque la variable objetivo solo tiene dos clases:</a:t>
            </a:r>
          </a:p>
          <a:p>
            <a:pPr algn="just"/>
            <a:r>
              <a:rPr lang="es-ES" sz="2000" b="0" dirty="0">
                <a:effectLst/>
                <a:latin typeface="Times New Roman" panose="02020603050405020304" pitchFamily="18" charset="0"/>
                <a:cs typeface="Times New Roman" panose="02020603050405020304" pitchFamily="18" charset="0"/>
              </a:rPr>
              <a:t>- 0: ausencia de enfermedad cardíaca</a:t>
            </a:r>
          </a:p>
          <a:p>
            <a:pPr algn="just"/>
            <a:r>
              <a:rPr lang="es-ES" sz="2000" b="0" dirty="0">
                <a:effectLst/>
                <a:latin typeface="Times New Roman" panose="02020603050405020304" pitchFamily="18" charset="0"/>
                <a:cs typeface="Times New Roman" panose="02020603050405020304" pitchFamily="18" charset="0"/>
              </a:rPr>
              <a:t>- 1: presencia de enfermedad cardíaca</a:t>
            </a:r>
          </a:p>
        </p:txBody>
      </p:sp>
      <p:sp>
        <p:nvSpPr>
          <p:cNvPr id="7" name="Marcador de contenido 2">
            <a:extLst>
              <a:ext uri="{FF2B5EF4-FFF2-40B4-BE49-F238E27FC236}">
                <a16:creationId xmlns:a16="http://schemas.microsoft.com/office/drawing/2014/main" id="{7D5B5EA1-0E0F-7248-D769-F51DDFF877D1}"/>
              </a:ext>
            </a:extLst>
          </p:cNvPr>
          <p:cNvSpPr txBox="1">
            <a:spLocks/>
          </p:cNvSpPr>
          <p:nvPr/>
        </p:nvSpPr>
        <p:spPr>
          <a:xfrm>
            <a:off x="8215745" y="2856393"/>
            <a:ext cx="3138055" cy="26596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C0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2000" b="0" dirty="0">
                <a:effectLst/>
                <a:latin typeface="Times New Roman" panose="02020603050405020304" pitchFamily="18" charset="0"/>
                <a:cs typeface="Times New Roman" panose="02020603050405020304" pitchFamily="18" charset="0"/>
              </a:rPr>
              <a:t>Las características de entrada corresponden a todas las variables del </a:t>
            </a:r>
            <a:r>
              <a:rPr lang="es-ES" sz="2000" b="0" dirty="0" err="1">
                <a:effectLst/>
                <a:latin typeface="Times New Roman" panose="02020603050405020304" pitchFamily="18" charset="0"/>
                <a:cs typeface="Times New Roman" panose="02020603050405020304" pitchFamily="18" charset="0"/>
              </a:rPr>
              <a:t>dataset</a:t>
            </a:r>
            <a:r>
              <a:rPr lang="es-ES" sz="2000" b="0" dirty="0">
                <a:effectLst/>
                <a:latin typeface="Times New Roman" panose="02020603050405020304" pitchFamily="18" charset="0"/>
                <a:cs typeface="Times New Roman" panose="02020603050405020304" pitchFamily="18" charset="0"/>
              </a:rPr>
              <a:t> excepto target, y se representan como x. </a:t>
            </a:r>
          </a:p>
          <a:p>
            <a:pPr marL="0" indent="0" algn="just">
              <a:buNone/>
            </a:pPr>
            <a:r>
              <a:rPr lang="es-ES" sz="2000" b="0" dirty="0">
                <a:effectLst/>
                <a:latin typeface="Times New Roman" panose="02020603050405020304" pitchFamily="18" charset="0"/>
                <a:cs typeface="Times New Roman" panose="02020603050405020304" pitchFamily="18" charset="0"/>
              </a:rPr>
              <a:t>La variable objetivo se representa como y.</a:t>
            </a:r>
          </a:p>
        </p:txBody>
      </p:sp>
    </p:spTree>
    <p:extLst>
      <p:ext uri="{BB962C8B-B14F-4D97-AF65-F5344CB8AC3E}">
        <p14:creationId xmlns:p14="http://schemas.microsoft.com/office/powerpoint/2010/main" val="356544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51164"/>
            <a:ext cx="10515600" cy="870312"/>
          </a:xfrm>
        </p:spPr>
        <p:txBody>
          <a:bodyPr>
            <a:normAutofit/>
          </a:bodyPr>
          <a:lstStyle/>
          <a:p>
            <a:r>
              <a:rPr lang="es-ES" b="1" dirty="0">
                <a:effectLst/>
                <a:latin typeface="Times New Roman" panose="02020603050405020304" pitchFamily="18" charset="0"/>
                <a:cs typeface="Times New Roman" panose="02020603050405020304" pitchFamily="18" charset="0"/>
              </a:rPr>
              <a:t>Diseño del problema y del modelo</a:t>
            </a:r>
            <a:endParaRPr lang="es-CO" dirty="0">
              <a:latin typeface="Times New Roman" panose="02020603050405020304" pitchFamily="18" charset="0"/>
              <a:cs typeface="Times New Roman" panose="02020603050405020304" pitchFamily="18" charset="0"/>
            </a:endParaRPr>
          </a:p>
        </p:txBody>
      </p:sp>
      <p:sp>
        <p:nvSpPr>
          <p:cNvPr id="3" name="Marcador de contenido 2"/>
          <p:cNvSpPr>
            <a:spLocks noGrp="1"/>
          </p:cNvSpPr>
          <p:nvPr>
            <p:ph idx="1"/>
          </p:nvPr>
        </p:nvSpPr>
        <p:spPr>
          <a:xfrm>
            <a:off x="380995" y="2376854"/>
            <a:ext cx="3525985" cy="3067985"/>
          </a:xfrm>
        </p:spPr>
        <p:txBody>
          <a:bodyPr>
            <a:noAutofit/>
          </a:bodyPr>
          <a:lstStyle/>
          <a:p>
            <a:pPr marL="0" indent="0" algn="just">
              <a:buNone/>
            </a:pPr>
            <a:r>
              <a:rPr lang="es-ES" sz="2000" b="0" dirty="0">
                <a:effectLst/>
                <a:latin typeface="Times New Roman" panose="02020603050405020304" pitchFamily="18" charset="0"/>
                <a:cs typeface="Times New Roman" panose="02020603050405020304" pitchFamily="18" charset="0"/>
              </a:rPr>
              <a:t>Para el perceptrón se utilizará una función de activación </a:t>
            </a:r>
            <a:r>
              <a:rPr lang="es-ES" sz="2000" b="1" dirty="0" err="1">
                <a:effectLst/>
                <a:latin typeface="Times New Roman" panose="02020603050405020304" pitchFamily="18" charset="0"/>
                <a:cs typeface="Times New Roman" panose="02020603050405020304" pitchFamily="18" charset="0"/>
              </a:rPr>
              <a:t>sigmoid</a:t>
            </a:r>
            <a:r>
              <a:rPr lang="es-ES" sz="2000" b="0" dirty="0">
                <a:effectLst/>
                <a:latin typeface="Times New Roman" panose="02020603050405020304" pitchFamily="18" charset="0"/>
                <a:cs typeface="Times New Roman" panose="02020603050405020304" pitchFamily="18" charset="0"/>
              </a:rPr>
              <a:t> en la salida, ya que permite obtener una probabilidad entre 0 y 1 esto nos sirve ya que luego podemos evaluar si hubo una probabilidad &gt; 0.5 y decidir si existe enfermedad cardíaca o no. </a:t>
            </a:r>
          </a:p>
        </p:txBody>
      </p:sp>
      <p:sp>
        <p:nvSpPr>
          <p:cNvPr id="5" name="Marcador de contenido 2">
            <a:extLst>
              <a:ext uri="{FF2B5EF4-FFF2-40B4-BE49-F238E27FC236}">
                <a16:creationId xmlns:a16="http://schemas.microsoft.com/office/drawing/2014/main" id="{B8873F61-9CED-EC71-BD9E-7DB2AFBBD118}"/>
              </a:ext>
            </a:extLst>
          </p:cNvPr>
          <p:cNvSpPr txBox="1">
            <a:spLocks/>
          </p:cNvSpPr>
          <p:nvPr/>
        </p:nvSpPr>
        <p:spPr>
          <a:xfrm>
            <a:off x="4333007" y="2677143"/>
            <a:ext cx="3525985" cy="2028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C0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2000" b="0" dirty="0">
                <a:effectLst/>
                <a:latin typeface="Times New Roman" panose="02020603050405020304" pitchFamily="18" charset="0"/>
                <a:cs typeface="Times New Roman" panose="02020603050405020304" pitchFamily="18" charset="0"/>
              </a:rPr>
              <a:t>La función de pérdida asociada será </a:t>
            </a:r>
            <a:r>
              <a:rPr lang="es-ES" sz="2000" b="1" dirty="0" err="1">
                <a:effectLst/>
                <a:latin typeface="Times New Roman" panose="02020603050405020304" pitchFamily="18" charset="0"/>
                <a:cs typeface="Times New Roman" panose="02020603050405020304" pitchFamily="18" charset="0"/>
              </a:rPr>
              <a:t>entriopia</a:t>
            </a:r>
            <a:r>
              <a:rPr lang="es-ES" sz="2000" b="1" dirty="0">
                <a:effectLst/>
                <a:latin typeface="Times New Roman" panose="02020603050405020304" pitchFamily="18" charset="0"/>
                <a:cs typeface="Times New Roman" panose="02020603050405020304" pitchFamily="18" charset="0"/>
              </a:rPr>
              <a:t> cruzada</a:t>
            </a:r>
            <a:r>
              <a:rPr lang="es-ES" sz="2000" b="0" dirty="0">
                <a:effectLst/>
                <a:latin typeface="Times New Roman" panose="02020603050405020304" pitchFamily="18" charset="0"/>
                <a:cs typeface="Times New Roman" panose="02020603050405020304" pitchFamily="18" charset="0"/>
              </a:rPr>
              <a:t>, adecuada para problemas de clasificación binaria ya que mide la diferencia entre las distribuciones de probabilidad predicha y real.</a:t>
            </a:r>
          </a:p>
        </p:txBody>
      </p:sp>
      <p:sp>
        <p:nvSpPr>
          <p:cNvPr id="8" name="Marcador de contenido 2">
            <a:extLst>
              <a:ext uri="{FF2B5EF4-FFF2-40B4-BE49-F238E27FC236}">
                <a16:creationId xmlns:a16="http://schemas.microsoft.com/office/drawing/2014/main" id="{4D134B19-1C61-F23A-96AA-46A088083E67}"/>
              </a:ext>
            </a:extLst>
          </p:cNvPr>
          <p:cNvSpPr txBox="1">
            <a:spLocks/>
          </p:cNvSpPr>
          <p:nvPr/>
        </p:nvSpPr>
        <p:spPr>
          <a:xfrm>
            <a:off x="8285020" y="2647826"/>
            <a:ext cx="3525985" cy="18903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C0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2000" b="0" dirty="0" err="1">
                <a:effectLst/>
                <a:latin typeface="Times New Roman" panose="02020603050405020304" pitchFamily="18" charset="0"/>
                <a:cs typeface="Times New Roman" panose="02020603050405020304" pitchFamily="18" charset="0"/>
              </a:rPr>
              <a:t>Ademas</a:t>
            </a:r>
            <a:r>
              <a:rPr lang="es-ES" sz="2000" b="0" dirty="0">
                <a:effectLst/>
                <a:latin typeface="Times New Roman" panose="02020603050405020304" pitchFamily="18" charset="0"/>
                <a:cs typeface="Times New Roman" panose="02020603050405020304" pitchFamily="18" charset="0"/>
              </a:rPr>
              <a:t> se usara el descenso de gradiente estocástico (SGD) como algoritmo de optimización para actualizar los pesos del modelo durante el entrenamiento.</a:t>
            </a:r>
          </a:p>
        </p:txBody>
      </p:sp>
    </p:spTree>
    <p:extLst>
      <p:ext uri="{BB962C8B-B14F-4D97-AF65-F5344CB8AC3E}">
        <p14:creationId xmlns:p14="http://schemas.microsoft.com/office/powerpoint/2010/main" val="312735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51164"/>
            <a:ext cx="10515600" cy="870312"/>
          </a:xfrm>
        </p:spPr>
        <p:txBody>
          <a:bodyPr>
            <a:normAutofit/>
          </a:bodyPr>
          <a:lstStyle/>
          <a:p>
            <a:r>
              <a:rPr lang="es-CO" dirty="0">
                <a:latin typeface="Times New Roman" panose="02020603050405020304" pitchFamily="18" charset="0"/>
                <a:cs typeface="Times New Roman" panose="02020603050405020304" pitchFamily="18" charset="0"/>
              </a:rPr>
              <a:t>Carga de datos y procesamiento</a:t>
            </a:r>
          </a:p>
        </p:txBody>
      </p:sp>
      <p:sp>
        <p:nvSpPr>
          <p:cNvPr id="3" name="Marcador de contenido 2"/>
          <p:cNvSpPr>
            <a:spLocks noGrp="1"/>
          </p:cNvSpPr>
          <p:nvPr>
            <p:ph idx="1"/>
          </p:nvPr>
        </p:nvSpPr>
        <p:spPr>
          <a:xfrm>
            <a:off x="394849" y="2848918"/>
            <a:ext cx="3525985" cy="1890345"/>
          </a:xfrm>
        </p:spPr>
        <p:txBody>
          <a:bodyPr>
            <a:noAutofit/>
          </a:bodyPr>
          <a:lstStyle/>
          <a:p>
            <a:pPr marL="0" indent="0" algn="just">
              <a:buNone/>
            </a:pPr>
            <a:r>
              <a:rPr lang="es-ES" sz="2000" dirty="0">
                <a:latin typeface="Times New Roman" panose="02020603050405020304" pitchFamily="18" charset="0"/>
                <a:cs typeface="Times New Roman" panose="02020603050405020304" pitchFamily="18" charset="0"/>
              </a:rPr>
              <a:t>Se trabajo con </a:t>
            </a:r>
            <a:r>
              <a:rPr lang="es-ES" sz="2000" dirty="0" err="1">
                <a:latin typeface="Times New Roman" panose="02020603050405020304" pitchFamily="18" charset="0"/>
                <a:cs typeface="Times New Roman" panose="02020603050405020304" pitchFamily="18" charset="0"/>
              </a:rPr>
              <a:t>con</a:t>
            </a:r>
            <a:r>
              <a:rPr lang="es-ES" sz="2000" dirty="0">
                <a:latin typeface="Times New Roman" panose="02020603050405020304" pitchFamily="18" charset="0"/>
                <a:cs typeface="Times New Roman" panose="02020603050405020304" pitchFamily="18" charset="0"/>
              </a:rPr>
              <a:t> un </a:t>
            </a:r>
            <a:r>
              <a:rPr lang="es-ES" sz="2000" dirty="0" err="1">
                <a:latin typeface="Times New Roman" panose="02020603050405020304" pitchFamily="18" charset="0"/>
                <a:cs typeface="Times New Roman" panose="02020603050405020304" pitchFamily="18" charset="0"/>
              </a:rPr>
              <a:t>dataset</a:t>
            </a:r>
            <a:r>
              <a:rPr lang="es-ES" sz="2000" dirty="0">
                <a:latin typeface="Times New Roman" panose="02020603050405020304" pitchFamily="18" charset="0"/>
                <a:cs typeface="Times New Roman" panose="02020603050405020304" pitchFamily="18" charset="0"/>
              </a:rPr>
              <a:t> de </a:t>
            </a:r>
            <a:r>
              <a:rPr lang="es-ES" sz="2000" b="1" dirty="0">
                <a:latin typeface="Times New Roman" panose="02020603050405020304" pitchFamily="18" charset="0"/>
                <a:cs typeface="Times New Roman" panose="02020603050405020304" pitchFamily="18" charset="0"/>
              </a:rPr>
              <a:t>1025 registros y 14 columnas</a:t>
            </a:r>
            <a:r>
              <a:rPr lang="es-ES" sz="2000" dirty="0">
                <a:latin typeface="Times New Roman" panose="02020603050405020304" pitchFamily="18" charset="0"/>
                <a:cs typeface="Times New Roman" panose="02020603050405020304" pitchFamily="18" charset="0"/>
              </a:rPr>
              <a:t>. De igual forma es importante destacar que no hubo necesidad de limpieza por valores nulos, lo que indica la integridad inicial de la muestra.</a:t>
            </a:r>
            <a:endParaRPr lang="es-ES" sz="2000" b="0" dirty="0">
              <a:effectLst/>
              <a:latin typeface="Times New Roman" panose="02020603050405020304" pitchFamily="18" charset="0"/>
              <a:cs typeface="Times New Roman" panose="02020603050405020304" pitchFamily="18" charset="0"/>
            </a:endParaRPr>
          </a:p>
        </p:txBody>
      </p:sp>
      <p:pic>
        <p:nvPicPr>
          <p:cNvPr id="6" name="Imagen 5">
            <a:extLst>
              <a:ext uri="{FF2B5EF4-FFF2-40B4-BE49-F238E27FC236}">
                <a16:creationId xmlns:a16="http://schemas.microsoft.com/office/drawing/2014/main" id="{314FC3F7-2108-818E-5DB5-8A4E58BD9C0B}"/>
              </a:ext>
            </a:extLst>
          </p:cNvPr>
          <p:cNvPicPr>
            <a:picLocks noChangeAspect="1"/>
          </p:cNvPicPr>
          <p:nvPr/>
        </p:nvPicPr>
        <p:blipFill>
          <a:blip r:embed="rId2"/>
          <a:stretch>
            <a:fillRect/>
          </a:stretch>
        </p:blipFill>
        <p:spPr>
          <a:xfrm>
            <a:off x="4669363" y="2700628"/>
            <a:ext cx="6954220" cy="2038635"/>
          </a:xfrm>
          <a:prstGeom prst="rect">
            <a:avLst/>
          </a:prstGeom>
        </p:spPr>
      </p:pic>
    </p:spTree>
    <p:extLst>
      <p:ext uri="{BB962C8B-B14F-4D97-AF65-F5344CB8AC3E}">
        <p14:creationId xmlns:p14="http://schemas.microsoft.com/office/powerpoint/2010/main" val="1770560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51164"/>
            <a:ext cx="10515600" cy="870312"/>
          </a:xfrm>
        </p:spPr>
        <p:txBody>
          <a:bodyPr>
            <a:normAutofit/>
          </a:bodyPr>
          <a:lstStyle/>
          <a:p>
            <a:r>
              <a:rPr lang="es-CO" dirty="0">
                <a:latin typeface="Times New Roman" panose="02020603050405020304" pitchFamily="18" charset="0"/>
                <a:cs typeface="Times New Roman" panose="02020603050405020304" pitchFamily="18" charset="0"/>
              </a:rPr>
              <a:t>Confirmación de los valores nulos</a:t>
            </a:r>
          </a:p>
        </p:txBody>
      </p:sp>
      <p:pic>
        <p:nvPicPr>
          <p:cNvPr id="10" name="Imagen 9">
            <a:extLst>
              <a:ext uri="{FF2B5EF4-FFF2-40B4-BE49-F238E27FC236}">
                <a16:creationId xmlns:a16="http://schemas.microsoft.com/office/drawing/2014/main" id="{E2427DA8-269B-0E72-39D6-A3E35C58A0E3}"/>
              </a:ext>
            </a:extLst>
          </p:cNvPr>
          <p:cNvPicPr>
            <a:picLocks noChangeAspect="1"/>
          </p:cNvPicPr>
          <p:nvPr/>
        </p:nvPicPr>
        <p:blipFill>
          <a:blip r:embed="rId2"/>
          <a:stretch>
            <a:fillRect/>
          </a:stretch>
        </p:blipFill>
        <p:spPr>
          <a:xfrm>
            <a:off x="6930582" y="2157234"/>
            <a:ext cx="2210108" cy="3610479"/>
          </a:xfrm>
          <a:prstGeom prst="rect">
            <a:avLst/>
          </a:prstGeom>
        </p:spPr>
      </p:pic>
      <p:pic>
        <p:nvPicPr>
          <p:cNvPr id="12" name="Imagen 11">
            <a:extLst>
              <a:ext uri="{FF2B5EF4-FFF2-40B4-BE49-F238E27FC236}">
                <a16:creationId xmlns:a16="http://schemas.microsoft.com/office/drawing/2014/main" id="{91EFB035-3197-BEC6-0F8E-E0CDA0C351B6}"/>
              </a:ext>
            </a:extLst>
          </p:cNvPr>
          <p:cNvPicPr>
            <a:picLocks noChangeAspect="1"/>
          </p:cNvPicPr>
          <p:nvPr/>
        </p:nvPicPr>
        <p:blipFill>
          <a:blip r:embed="rId3"/>
          <a:stretch>
            <a:fillRect/>
          </a:stretch>
        </p:blipFill>
        <p:spPr>
          <a:xfrm>
            <a:off x="1902188" y="1623759"/>
            <a:ext cx="3067478" cy="4677428"/>
          </a:xfrm>
          <a:prstGeom prst="rect">
            <a:avLst/>
          </a:prstGeom>
        </p:spPr>
      </p:pic>
    </p:spTree>
    <p:extLst>
      <p:ext uri="{BB962C8B-B14F-4D97-AF65-F5344CB8AC3E}">
        <p14:creationId xmlns:p14="http://schemas.microsoft.com/office/powerpoint/2010/main" val="112127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51164"/>
            <a:ext cx="10515600" cy="870312"/>
          </a:xfrm>
        </p:spPr>
        <p:txBody>
          <a:bodyPr>
            <a:noAutofit/>
          </a:bodyPr>
          <a:lstStyle/>
          <a:p>
            <a:r>
              <a:rPr lang="es-ES" b="1" dirty="0" err="1">
                <a:effectLst/>
                <a:latin typeface="Times New Roman" panose="02020603050405020304" pitchFamily="18" charset="0"/>
                <a:cs typeface="Times New Roman" panose="02020603050405020304" pitchFamily="18" charset="0"/>
              </a:rPr>
              <a:t>Declaracion</a:t>
            </a:r>
            <a:r>
              <a:rPr lang="es-ES" b="1" dirty="0">
                <a:effectLst/>
                <a:latin typeface="Times New Roman" panose="02020603050405020304" pitchFamily="18" charset="0"/>
                <a:cs typeface="Times New Roman" panose="02020603050405020304" pitchFamily="18" charset="0"/>
              </a:rPr>
              <a:t> de </a:t>
            </a:r>
            <a:r>
              <a:rPr lang="es-ES" b="1" dirty="0" err="1">
                <a:effectLst/>
                <a:latin typeface="Times New Roman" panose="02020603050405020304" pitchFamily="18" charset="0"/>
                <a:cs typeface="Times New Roman" panose="02020603050405020304" pitchFamily="18" charset="0"/>
              </a:rPr>
              <a:t>hiperparámetros</a:t>
            </a:r>
            <a:r>
              <a:rPr lang="es-ES" b="1" dirty="0">
                <a:effectLst/>
                <a:latin typeface="Times New Roman" panose="02020603050405020304" pitchFamily="18" charset="0"/>
                <a:cs typeface="Times New Roman" panose="02020603050405020304" pitchFamily="18" charset="0"/>
              </a:rPr>
              <a:t> y arquitectura de la red neuronal</a:t>
            </a:r>
            <a:endParaRPr lang="es-ES" b="0" dirty="0">
              <a:effectLst/>
              <a:latin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2A829DF1-9BBC-F654-D2D0-2BAA9AAA8578}"/>
              </a:ext>
            </a:extLst>
          </p:cNvPr>
          <p:cNvPicPr>
            <a:picLocks noChangeAspect="1"/>
          </p:cNvPicPr>
          <p:nvPr/>
        </p:nvPicPr>
        <p:blipFill>
          <a:blip r:embed="rId2"/>
          <a:stretch>
            <a:fillRect/>
          </a:stretch>
        </p:blipFill>
        <p:spPr>
          <a:xfrm>
            <a:off x="1229587" y="2471836"/>
            <a:ext cx="9256533" cy="1263426"/>
          </a:xfrm>
          <a:prstGeom prst="rect">
            <a:avLst/>
          </a:prstGeom>
        </p:spPr>
      </p:pic>
      <p:sp>
        <p:nvSpPr>
          <p:cNvPr id="5" name="Marcador de contenido 2">
            <a:extLst>
              <a:ext uri="{FF2B5EF4-FFF2-40B4-BE49-F238E27FC236}">
                <a16:creationId xmlns:a16="http://schemas.microsoft.com/office/drawing/2014/main" id="{2B92CFDB-02A2-CD4C-37B0-71A97D42F0F2}"/>
              </a:ext>
            </a:extLst>
          </p:cNvPr>
          <p:cNvSpPr>
            <a:spLocks noGrp="1"/>
          </p:cNvSpPr>
          <p:nvPr>
            <p:ph idx="1"/>
          </p:nvPr>
        </p:nvSpPr>
        <p:spPr>
          <a:xfrm>
            <a:off x="1229587" y="4391351"/>
            <a:ext cx="9206351" cy="1890345"/>
          </a:xfrm>
        </p:spPr>
        <p:txBody>
          <a:bodyPr>
            <a:noAutofit/>
          </a:bodyPr>
          <a:lstStyle/>
          <a:p>
            <a:pPr marL="0" indent="0" algn="just">
              <a:buNone/>
            </a:pPr>
            <a:r>
              <a:rPr lang="es-ES" sz="2000" b="0" dirty="0">
                <a:effectLst/>
                <a:latin typeface="Times New Roman" panose="02020603050405020304" pitchFamily="18" charset="0"/>
                <a:cs typeface="Times New Roman" panose="02020603050405020304" pitchFamily="18" charset="0"/>
              </a:rPr>
              <a:t>Esto sirve para definir la estructura de la red neuronal y los parámetros que controlan el proceso de entrenamiento, como la tasa de aprendizaje, el número de épocas y el tamaño del lote, como nos podemos dar cuenta el número de capas ocultas es 1 y el número de neuronas en esa capa es 10, lo cual es una arquitectura simple pero adecuada para este tipo de problema.</a:t>
            </a:r>
          </a:p>
        </p:txBody>
      </p:sp>
    </p:spTree>
    <p:extLst>
      <p:ext uri="{BB962C8B-B14F-4D97-AF65-F5344CB8AC3E}">
        <p14:creationId xmlns:p14="http://schemas.microsoft.com/office/powerpoint/2010/main" val="2016157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Análisis exploratorio de datos (EDA)</a:t>
            </a:r>
          </a:p>
        </p:txBody>
      </p:sp>
      <p:pic>
        <p:nvPicPr>
          <p:cNvPr id="8" name="Imagen 7">
            <a:extLst>
              <a:ext uri="{FF2B5EF4-FFF2-40B4-BE49-F238E27FC236}">
                <a16:creationId xmlns:a16="http://schemas.microsoft.com/office/drawing/2014/main" id="{5DB1923E-2FFD-1F84-7609-C09818C989DF}"/>
              </a:ext>
            </a:extLst>
          </p:cNvPr>
          <p:cNvPicPr>
            <a:picLocks noChangeAspect="1"/>
          </p:cNvPicPr>
          <p:nvPr/>
        </p:nvPicPr>
        <p:blipFill>
          <a:blip r:embed="rId2"/>
          <a:stretch>
            <a:fillRect/>
          </a:stretch>
        </p:blipFill>
        <p:spPr>
          <a:xfrm>
            <a:off x="4965464" y="1669090"/>
            <a:ext cx="6508672" cy="4745564"/>
          </a:xfrm>
          <a:prstGeom prst="rect">
            <a:avLst/>
          </a:prstGeom>
        </p:spPr>
      </p:pic>
      <p:sp>
        <p:nvSpPr>
          <p:cNvPr id="9" name="Marcador de contenido 2">
            <a:extLst>
              <a:ext uri="{FF2B5EF4-FFF2-40B4-BE49-F238E27FC236}">
                <a16:creationId xmlns:a16="http://schemas.microsoft.com/office/drawing/2014/main" id="{A656F88F-B625-78A4-5A13-2C7203123624}"/>
              </a:ext>
            </a:extLst>
          </p:cNvPr>
          <p:cNvSpPr>
            <a:spLocks noGrp="1"/>
          </p:cNvSpPr>
          <p:nvPr>
            <p:ph idx="1"/>
          </p:nvPr>
        </p:nvSpPr>
        <p:spPr>
          <a:xfrm>
            <a:off x="838200" y="2151527"/>
            <a:ext cx="3525985" cy="3736655"/>
          </a:xfrm>
        </p:spPr>
        <p:txBody>
          <a:bodyPr>
            <a:noAutofit/>
          </a:bodyPr>
          <a:lstStyle/>
          <a:p>
            <a:pPr marL="0" indent="0" algn="just">
              <a:buNone/>
            </a:pPr>
            <a:r>
              <a:rPr lang="es-ES" sz="2000" b="0" dirty="0">
                <a:effectLst/>
                <a:latin typeface="Times New Roman" panose="02020603050405020304" pitchFamily="18" charset="0"/>
                <a:cs typeface="Times New Roman" panose="02020603050405020304" pitchFamily="18" charset="0"/>
              </a:rPr>
              <a:t>Muestra la relación entre las variables numéricas del conjunto de datos. Se pueden identificar algunas correlaciones interesantes, como la relación entre </a:t>
            </a:r>
            <a:r>
              <a:rPr lang="es-ES" sz="2000" b="0" dirty="0" err="1">
                <a:effectLst/>
                <a:latin typeface="Times New Roman" panose="02020603050405020304" pitchFamily="18" charset="0"/>
                <a:cs typeface="Times New Roman" panose="02020603050405020304" pitchFamily="18" charset="0"/>
              </a:rPr>
              <a:t>thalach</a:t>
            </a:r>
            <a:r>
              <a:rPr lang="es-ES" sz="2000" b="0" dirty="0">
                <a:effectLst/>
                <a:latin typeface="Times New Roman" panose="02020603050405020304" pitchFamily="18" charset="0"/>
                <a:cs typeface="Times New Roman" panose="02020603050405020304" pitchFamily="18" charset="0"/>
              </a:rPr>
              <a:t> (frecuencia cardíaca máxima) y target (diagnóstico de enfermedad cardíaca), lo que sugiere que la frecuencia cardíaca máxima podría ser un factor importante para predecir la presencia de enfermedad cardíaca.</a:t>
            </a:r>
          </a:p>
        </p:txBody>
      </p:sp>
    </p:spTree>
    <p:extLst>
      <p:ext uri="{BB962C8B-B14F-4D97-AF65-F5344CB8AC3E}">
        <p14:creationId xmlns:p14="http://schemas.microsoft.com/office/powerpoint/2010/main" val="2338984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Análisis exploratorio de datos (EDA)</a:t>
            </a:r>
          </a:p>
        </p:txBody>
      </p:sp>
      <p:sp>
        <p:nvSpPr>
          <p:cNvPr id="9" name="Marcador de contenido 2">
            <a:extLst>
              <a:ext uri="{FF2B5EF4-FFF2-40B4-BE49-F238E27FC236}">
                <a16:creationId xmlns:a16="http://schemas.microsoft.com/office/drawing/2014/main" id="{A656F88F-B625-78A4-5A13-2C7203123624}"/>
              </a:ext>
            </a:extLst>
          </p:cNvPr>
          <p:cNvSpPr>
            <a:spLocks noGrp="1"/>
          </p:cNvSpPr>
          <p:nvPr>
            <p:ph idx="1"/>
          </p:nvPr>
        </p:nvSpPr>
        <p:spPr>
          <a:xfrm>
            <a:off x="838200" y="2319371"/>
            <a:ext cx="3525985" cy="2911983"/>
          </a:xfrm>
        </p:spPr>
        <p:txBody>
          <a:bodyPr>
            <a:noAutofit/>
          </a:bodyPr>
          <a:lstStyle/>
          <a:p>
            <a:pPr marL="0" indent="0">
              <a:buNone/>
            </a:pPr>
            <a:r>
              <a:rPr lang="es-ES" sz="2000" b="0" dirty="0">
                <a:effectLst/>
                <a:latin typeface="Times New Roman" panose="02020603050405020304" pitchFamily="18" charset="0"/>
                <a:cs typeface="Times New Roman" panose="02020603050405020304" pitchFamily="18" charset="0"/>
              </a:rPr>
              <a:t>1: Indica una correlación positiva perfecta (Factores para predecir enfermedad cardiaca).</a:t>
            </a:r>
          </a:p>
          <a:p>
            <a:pPr marL="0" indent="0">
              <a:buNone/>
            </a:pPr>
            <a:r>
              <a:rPr lang="es-ES" sz="2000" b="0" dirty="0">
                <a:effectLst/>
                <a:latin typeface="Times New Roman" panose="02020603050405020304" pitchFamily="18" charset="0"/>
                <a:cs typeface="Times New Roman" panose="02020603050405020304" pitchFamily="18" charset="0"/>
              </a:rPr>
              <a:t>0: Indica que no hay relación lineal.</a:t>
            </a:r>
          </a:p>
          <a:p>
            <a:pPr marL="0" indent="0">
              <a:buNone/>
            </a:pPr>
            <a:r>
              <a:rPr lang="es-ES" sz="2000" b="0" dirty="0">
                <a:effectLst/>
                <a:latin typeface="Times New Roman" panose="02020603050405020304" pitchFamily="18" charset="0"/>
                <a:cs typeface="Times New Roman" panose="02020603050405020304" pitchFamily="18" charset="0"/>
              </a:rPr>
              <a:t>-1: Indica una correlación negativa perfecta (Factores que no ayudan a predecir enfermedad cardiaca).</a:t>
            </a:r>
          </a:p>
          <a:p>
            <a:pPr marL="0" indent="0" algn="just">
              <a:buNone/>
            </a:pPr>
            <a:endParaRPr lang="es-ES" sz="2000" b="0" dirty="0">
              <a:effectLst/>
              <a:latin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9A988A49-F018-F66B-30A9-973820198871}"/>
              </a:ext>
            </a:extLst>
          </p:cNvPr>
          <p:cNvPicPr>
            <a:picLocks noChangeAspect="1"/>
          </p:cNvPicPr>
          <p:nvPr/>
        </p:nvPicPr>
        <p:blipFill>
          <a:blip r:embed="rId2"/>
          <a:stretch>
            <a:fillRect/>
          </a:stretch>
        </p:blipFill>
        <p:spPr>
          <a:xfrm>
            <a:off x="5150028" y="1536676"/>
            <a:ext cx="5715798" cy="4477375"/>
          </a:xfrm>
          <a:prstGeom prst="rect">
            <a:avLst/>
          </a:prstGeom>
        </p:spPr>
      </p:pic>
    </p:spTree>
    <p:extLst>
      <p:ext uri="{BB962C8B-B14F-4D97-AF65-F5344CB8AC3E}">
        <p14:creationId xmlns:p14="http://schemas.microsoft.com/office/powerpoint/2010/main" val="1285999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Análisis exploratorio de datos (EDA)</a:t>
            </a:r>
          </a:p>
        </p:txBody>
      </p:sp>
      <p:sp>
        <p:nvSpPr>
          <p:cNvPr id="9" name="Marcador de contenido 2">
            <a:extLst>
              <a:ext uri="{FF2B5EF4-FFF2-40B4-BE49-F238E27FC236}">
                <a16:creationId xmlns:a16="http://schemas.microsoft.com/office/drawing/2014/main" id="{A656F88F-B625-78A4-5A13-2C7203123624}"/>
              </a:ext>
            </a:extLst>
          </p:cNvPr>
          <p:cNvSpPr>
            <a:spLocks noGrp="1"/>
          </p:cNvSpPr>
          <p:nvPr>
            <p:ph idx="1"/>
          </p:nvPr>
        </p:nvSpPr>
        <p:spPr>
          <a:xfrm>
            <a:off x="838200" y="2293785"/>
            <a:ext cx="3525985" cy="2711418"/>
          </a:xfrm>
        </p:spPr>
        <p:txBody>
          <a:bodyPr>
            <a:noAutofit/>
          </a:bodyPr>
          <a:lstStyle/>
          <a:p>
            <a:pPr marL="0" indent="0">
              <a:buNone/>
            </a:pPr>
            <a:r>
              <a:rPr lang="es-ES" sz="2000" b="0" dirty="0">
                <a:effectLst/>
                <a:latin typeface="Times New Roman" panose="02020603050405020304" pitchFamily="18" charset="0"/>
                <a:cs typeface="Times New Roman" panose="02020603050405020304" pitchFamily="18" charset="0"/>
              </a:rPr>
              <a:t>Se puede observar que la variable </a:t>
            </a:r>
            <a:r>
              <a:rPr lang="es-ES" sz="2000" b="0" dirty="0" err="1">
                <a:effectLst/>
                <a:latin typeface="Times New Roman" panose="02020603050405020304" pitchFamily="18" charset="0"/>
                <a:cs typeface="Times New Roman" panose="02020603050405020304" pitchFamily="18" charset="0"/>
              </a:rPr>
              <a:t>thalach</a:t>
            </a:r>
            <a:r>
              <a:rPr lang="es-ES" sz="2000" b="0" dirty="0">
                <a:effectLst/>
                <a:latin typeface="Times New Roman" panose="02020603050405020304" pitchFamily="18" charset="0"/>
                <a:cs typeface="Times New Roman" panose="02020603050405020304" pitchFamily="18" charset="0"/>
              </a:rPr>
              <a:t> (frecuencia cardiaca máxima alcanzada) tiene una </a:t>
            </a:r>
            <a:r>
              <a:rPr lang="es-ES" sz="2000" b="0" dirty="0" err="1">
                <a:effectLst/>
                <a:latin typeface="Times New Roman" panose="02020603050405020304" pitchFamily="18" charset="0"/>
                <a:cs typeface="Times New Roman" panose="02020603050405020304" pitchFamily="18" charset="0"/>
              </a:rPr>
              <a:t>relacion</a:t>
            </a:r>
            <a:r>
              <a:rPr lang="es-ES" sz="2000" b="0" dirty="0">
                <a:effectLst/>
                <a:latin typeface="Times New Roman" panose="02020603050405020304" pitchFamily="18" charset="0"/>
                <a:cs typeface="Times New Roman" panose="02020603050405020304" pitchFamily="18" charset="0"/>
              </a:rPr>
              <a:t> opuesta con el diagnostico ya que a medida que aumenta la frecuencia cardiaca máxima alcanzada, la presencia de enfermedades del corazón disminuye.</a:t>
            </a:r>
          </a:p>
        </p:txBody>
      </p:sp>
      <p:pic>
        <p:nvPicPr>
          <p:cNvPr id="4" name="Imagen 3">
            <a:extLst>
              <a:ext uri="{FF2B5EF4-FFF2-40B4-BE49-F238E27FC236}">
                <a16:creationId xmlns:a16="http://schemas.microsoft.com/office/drawing/2014/main" id="{08B82265-A7F2-A55F-9EB2-B46A74ABD9A4}"/>
              </a:ext>
            </a:extLst>
          </p:cNvPr>
          <p:cNvPicPr>
            <a:picLocks noChangeAspect="1"/>
          </p:cNvPicPr>
          <p:nvPr/>
        </p:nvPicPr>
        <p:blipFill>
          <a:blip r:embed="rId2"/>
          <a:stretch>
            <a:fillRect/>
          </a:stretch>
        </p:blipFill>
        <p:spPr>
          <a:xfrm>
            <a:off x="5363914" y="1410807"/>
            <a:ext cx="5620534" cy="4477375"/>
          </a:xfrm>
          <a:prstGeom prst="rect">
            <a:avLst/>
          </a:prstGeom>
        </p:spPr>
      </p:pic>
    </p:spTree>
    <p:extLst>
      <p:ext uri="{BB962C8B-B14F-4D97-AF65-F5344CB8AC3E}">
        <p14:creationId xmlns:p14="http://schemas.microsoft.com/office/powerpoint/2010/main" val="2035608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Análisis exploratorio de datos (EDA)</a:t>
            </a:r>
          </a:p>
        </p:txBody>
      </p:sp>
      <p:sp>
        <p:nvSpPr>
          <p:cNvPr id="9" name="Marcador de contenido 2">
            <a:extLst>
              <a:ext uri="{FF2B5EF4-FFF2-40B4-BE49-F238E27FC236}">
                <a16:creationId xmlns:a16="http://schemas.microsoft.com/office/drawing/2014/main" id="{A656F88F-B625-78A4-5A13-2C7203123624}"/>
              </a:ext>
            </a:extLst>
          </p:cNvPr>
          <p:cNvSpPr>
            <a:spLocks noGrp="1"/>
          </p:cNvSpPr>
          <p:nvPr>
            <p:ph idx="1"/>
          </p:nvPr>
        </p:nvSpPr>
        <p:spPr>
          <a:xfrm>
            <a:off x="838200" y="2718046"/>
            <a:ext cx="3525985" cy="2018691"/>
          </a:xfrm>
        </p:spPr>
        <p:txBody>
          <a:bodyPr>
            <a:noAutofit/>
          </a:bodyPr>
          <a:lstStyle/>
          <a:p>
            <a:pPr marL="0" indent="0" algn="just">
              <a:buNone/>
            </a:pPr>
            <a:r>
              <a:rPr lang="es-ES" sz="2000" b="0" dirty="0">
                <a:effectLst/>
                <a:latin typeface="Times New Roman" panose="02020603050405020304" pitchFamily="18" charset="0"/>
                <a:cs typeface="Times New Roman" panose="02020603050405020304" pitchFamily="18" charset="0"/>
              </a:rPr>
              <a:t>La cantidad de personas que mas tenemos en el </a:t>
            </a:r>
            <a:r>
              <a:rPr lang="es-ES" sz="2000" b="0" dirty="0" err="1">
                <a:effectLst/>
                <a:latin typeface="Times New Roman" panose="02020603050405020304" pitchFamily="18" charset="0"/>
                <a:cs typeface="Times New Roman" panose="02020603050405020304" pitchFamily="18" charset="0"/>
              </a:rPr>
              <a:t>dataset</a:t>
            </a:r>
            <a:r>
              <a:rPr lang="es-ES" sz="2000" b="0" dirty="0">
                <a:effectLst/>
                <a:latin typeface="Times New Roman" panose="02020603050405020304" pitchFamily="18" charset="0"/>
                <a:cs typeface="Times New Roman" panose="02020603050405020304" pitchFamily="18" charset="0"/>
              </a:rPr>
              <a:t> </a:t>
            </a:r>
            <a:r>
              <a:rPr lang="es-ES" sz="2000" b="0" dirty="0" err="1">
                <a:effectLst/>
                <a:latin typeface="Times New Roman" panose="02020603050405020304" pitchFamily="18" charset="0"/>
                <a:cs typeface="Times New Roman" panose="02020603050405020304" pitchFamily="18" charset="0"/>
              </a:rPr>
              <a:t>estan</a:t>
            </a:r>
            <a:r>
              <a:rPr lang="es-ES" sz="2000" b="0" dirty="0">
                <a:effectLst/>
                <a:latin typeface="Times New Roman" panose="02020603050405020304" pitchFamily="18" charset="0"/>
                <a:cs typeface="Times New Roman" panose="02020603050405020304" pitchFamily="18" charset="0"/>
              </a:rPr>
              <a:t> entre las edades dentro de los 55 a 60 años, lo que puede ser un factor de riesgo para las enfermedades del corazón.</a:t>
            </a:r>
          </a:p>
        </p:txBody>
      </p:sp>
      <p:pic>
        <p:nvPicPr>
          <p:cNvPr id="4" name="Imagen 3">
            <a:extLst>
              <a:ext uri="{FF2B5EF4-FFF2-40B4-BE49-F238E27FC236}">
                <a16:creationId xmlns:a16="http://schemas.microsoft.com/office/drawing/2014/main" id="{0F2230C9-8002-5513-94FB-EE766083F0BA}"/>
              </a:ext>
            </a:extLst>
          </p:cNvPr>
          <p:cNvPicPr>
            <a:picLocks noChangeAspect="1"/>
          </p:cNvPicPr>
          <p:nvPr/>
        </p:nvPicPr>
        <p:blipFill>
          <a:blip r:embed="rId2"/>
          <a:stretch>
            <a:fillRect/>
          </a:stretch>
        </p:blipFill>
        <p:spPr>
          <a:xfrm>
            <a:off x="5623757" y="1566602"/>
            <a:ext cx="5371580" cy="4321580"/>
          </a:xfrm>
          <a:prstGeom prst="rect">
            <a:avLst/>
          </a:prstGeom>
        </p:spPr>
      </p:pic>
    </p:spTree>
    <p:extLst>
      <p:ext uri="{BB962C8B-B14F-4D97-AF65-F5344CB8AC3E}">
        <p14:creationId xmlns:p14="http://schemas.microsoft.com/office/powerpoint/2010/main" val="3900045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Análisis exploratorio de datos (EDA)</a:t>
            </a:r>
          </a:p>
        </p:txBody>
      </p:sp>
      <p:sp>
        <p:nvSpPr>
          <p:cNvPr id="9" name="Marcador de contenido 2">
            <a:extLst>
              <a:ext uri="{FF2B5EF4-FFF2-40B4-BE49-F238E27FC236}">
                <a16:creationId xmlns:a16="http://schemas.microsoft.com/office/drawing/2014/main" id="{A656F88F-B625-78A4-5A13-2C7203123624}"/>
              </a:ext>
            </a:extLst>
          </p:cNvPr>
          <p:cNvSpPr>
            <a:spLocks noGrp="1"/>
          </p:cNvSpPr>
          <p:nvPr>
            <p:ph idx="1"/>
          </p:nvPr>
        </p:nvSpPr>
        <p:spPr>
          <a:xfrm>
            <a:off x="838200" y="2151527"/>
            <a:ext cx="3525985" cy="3736655"/>
          </a:xfrm>
        </p:spPr>
        <p:txBody>
          <a:bodyPr>
            <a:noAutofit/>
          </a:bodyPr>
          <a:lstStyle/>
          <a:p>
            <a:pPr marL="0" indent="0" algn="just">
              <a:buNone/>
            </a:pPr>
            <a:r>
              <a:rPr lang="es-ES" sz="2000" b="0" dirty="0" err="1">
                <a:effectLst/>
                <a:latin typeface="Times New Roman" panose="02020603050405020304" pitchFamily="18" charset="0"/>
                <a:cs typeface="Times New Roman" panose="02020603050405020304" pitchFamily="18" charset="0"/>
              </a:rPr>
              <a:t>Segun</a:t>
            </a:r>
            <a:r>
              <a:rPr lang="es-ES" sz="2000" b="0" dirty="0">
                <a:effectLst/>
                <a:latin typeface="Times New Roman" panose="02020603050405020304" pitchFamily="18" charset="0"/>
                <a:cs typeface="Times New Roman" panose="02020603050405020304" pitchFamily="18" charset="0"/>
              </a:rPr>
              <a:t> lo que nos dice la grafica la edad no es un factor de riesgo para las enfermedades del corazón, ya que a medida que aumenta la edad no se muestra un aumento en la presencia de enfermedades del corazón porque si se mira la grafica nos dice el ancho es </a:t>
            </a:r>
            <a:r>
              <a:rPr lang="es-ES" sz="2000" b="0" dirty="0" err="1">
                <a:effectLst/>
                <a:latin typeface="Times New Roman" panose="02020603050405020304" pitchFamily="18" charset="0"/>
                <a:cs typeface="Times New Roman" panose="02020603050405020304" pitchFamily="18" charset="0"/>
              </a:rPr>
              <a:t>irrelavente</a:t>
            </a:r>
            <a:r>
              <a:rPr lang="es-ES" sz="2000" b="0" dirty="0">
                <a:effectLst/>
                <a:latin typeface="Times New Roman" panose="02020603050405020304" pitchFamily="18" charset="0"/>
                <a:cs typeface="Times New Roman" panose="02020603050405020304" pitchFamily="18" charset="0"/>
              </a:rPr>
              <a:t> de los dos violines no se ven afectados por la edad</a:t>
            </a:r>
          </a:p>
        </p:txBody>
      </p:sp>
      <p:pic>
        <p:nvPicPr>
          <p:cNvPr id="4" name="Imagen 3">
            <a:extLst>
              <a:ext uri="{FF2B5EF4-FFF2-40B4-BE49-F238E27FC236}">
                <a16:creationId xmlns:a16="http://schemas.microsoft.com/office/drawing/2014/main" id="{17743321-3DF4-E3AE-3B1D-72E5E43D3114}"/>
              </a:ext>
            </a:extLst>
          </p:cNvPr>
          <p:cNvPicPr>
            <a:picLocks noChangeAspect="1"/>
          </p:cNvPicPr>
          <p:nvPr/>
        </p:nvPicPr>
        <p:blipFill>
          <a:blip r:embed="rId2"/>
          <a:stretch>
            <a:fillRect/>
          </a:stretch>
        </p:blipFill>
        <p:spPr>
          <a:xfrm>
            <a:off x="5596482" y="1821587"/>
            <a:ext cx="5237773" cy="4066595"/>
          </a:xfrm>
          <a:prstGeom prst="rect">
            <a:avLst/>
          </a:prstGeom>
        </p:spPr>
      </p:pic>
    </p:spTree>
    <p:extLst>
      <p:ext uri="{BB962C8B-B14F-4D97-AF65-F5344CB8AC3E}">
        <p14:creationId xmlns:p14="http://schemas.microsoft.com/office/powerpoint/2010/main" val="2096768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Análisis exploratorio de datos (EDA)</a:t>
            </a:r>
          </a:p>
        </p:txBody>
      </p:sp>
      <p:sp>
        <p:nvSpPr>
          <p:cNvPr id="9" name="Marcador de contenido 2">
            <a:extLst>
              <a:ext uri="{FF2B5EF4-FFF2-40B4-BE49-F238E27FC236}">
                <a16:creationId xmlns:a16="http://schemas.microsoft.com/office/drawing/2014/main" id="{A656F88F-B625-78A4-5A13-2C7203123624}"/>
              </a:ext>
            </a:extLst>
          </p:cNvPr>
          <p:cNvSpPr>
            <a:spLocks noGrp="1"/>
          </p:cNvSpPr>
          <p:nvPr>
            <p:ph idx="1"/>
          </p:nvPr>
        </p:nvSpPr>
        <p:spPr>
          <a:xfrm>
            <a:off x="838200" y="2151527"/>
            <a:ext cx="3525985" cy="3736655"/>
          </a:xfrm>
        </p:spPr>
        <p:txBody>
          <a:bodyPr>
            <a:noAutofit/>
          </a:bodyPr>
          <a:lstStyle/>
          <a:p>
            <a:pPr marL="0" indent="0" algn="just">
              <a:buNone/>
            </a:pPr>
            <a:r>
              <a:rPr lang="es-ES" sz="2000" b="0" dirty="0">
                <a:effectLst/>
                <a:latin typeface="Times New Roman" panose="02020603050405020304" pitchFamily="18" charset="0"/>
                <a:cs typeface="Times New Roman" panose="02020603050405020304" pitchFamily="18" charset="0"/>
              </a:rPr>
              <a:t>Se puede observar claramente que las </a:t>
            </a:r>
            <a:r>
              <a:rPr lang="es-ES" sz="2000" b="0" dirty="0" err="1">
                <a:effectLst/>
                <a:latin typeface="Times New Roman" panose="02020603050405020304" pitchFamily="18" charset="0"/>
                <a:cs typeface="Times New Roman" panose="02020603050405020304" pitchFamily="18" charset="0"/>
              </a:rPr>
              <a:t>personsas</a:t>
            </a:r>
            <a:r>
              <a:rPr lang="es-ES" sz="2000" b="0" dirty="0">
                <a:effectLst/>
                <a:latin typeface="Times New Roman" panose="02020603050405020304" pitchFamily="18" charset="0"/>
                <a:cs typeface="Times New Roman" panose="02020603050405020304" pitchFamily="18" charset="0"/>
              </a:rPr>
              <a:t> con una angina </a:t>
            </a:r>
            <a:r>
              <a:rPr lang="es-ES" sz="2000" b="0" dirty="0" err="1">
                <a:effectLst/>
                <a:latin typeface="Times New Roman" panose="02020603050405020304" pitchFamily="18" charset="0"/>
                <a:cs typeface="Times New Roman" panose="02020603050405020304" pitchFamily="18" charset="0"/>
              </a:rPr>
              <a:t>tipica</a:t>
            </a:r>
            <a:r>
              <a:rPr lang="es-ES" sz="2000" b="0" dirty="0">
                <a:effectLst/>
                <a:latin typeface="Times New Roman" panose="02020603050405020304" pitchFamily="18" charset="0"/>
                <a:cs typeface="Times New Roman" panose="02020603050405020304" pitchFamily="18" charset="0"/>
              </a:rPr>
              <a:t> tiene una menor presencia de enfermedades del corazón, en cambio </a:t>
            </a:r>
            <a:r>
              <a:rPr lang="es-ES" sz="2000" b="0" dirty="0" err="1">
                <a:effectLst/>
                <a:latin typeface="Times New Roman" panose="02020603050405020304" pitchFamily="18" charset="0"/>
                <a:cs typeface="Times New Roman" panose="02020603050405020304" pitchFamily="18" charset="0"/>
              </a:rPr>
              <a:t>personans</a:t>
            </a:r>
            <a:r>
              <a:rPr lang="es-ES" sz="2000" b="0" dirty="0">
                <a:effectLst/>
                <a:latin typeface="Times New Roman" panose="02020603050405020304" pitchFamily="18" charset="0"/>
                <a:cs typeface="Times New Roman" panose="02020603050405020304" pitchFamily="18" charset="0"/>
              </a:rPr>
              <a:t> con un dolor no anginoso tiene una mayor presencia de enfermedades del corazón, lo que nos dice que el tipo de dolor en el pecho es un factor de riesgo para las enfermedades del corazón.</a:t>
            </a:r>
          </a:p>
        </p:txBody>
      </p:sp>
      <p:pic>
        <p:nvPicPr>
          <p:cNvPr id="4" name="Imagen 3">
            <a:extLst>
              <a:ext uri="{FF2B5EF4-FFF2-40B4-BE49-F238E27FC236}">
                <a16:creationId xmlns:a16="http://schemas.microsoft.com/office/drawing/2014/main" id="{E0444B47-EE48-8248-144D-8E3BFAE6A7DF}"/>
              </a:ext>
            </a:extLst>
          </p:cNvPr>
          <p:cNvPicPr>
            <a:picLocks noChangeAspect="1"/>
          </p:cNvPicPr>
          <p:nvPr/>
        </p:nvPicPr>
        <p:blipFill>
          <a:blip r:embed="rId2"/>
          <a:stretch>
            <a:fillRect/>
          </a:stretch>
        </p:blipFill>
        <p:spPr>
          <a:xfrm>
            <a:off x="5272151" y="1929157"/>
            <a:ext cx="5797631" cy="3924389"/>
          </a:xfrm>
          <a:prstGeom prst="rect">
            <a:avLst/>
          </a:prstGeom>
        </p:spPr>
      </p:pic>
    </p:spTree>
    <p:extLst>
      <p:ext uri="{BB962C8B-B14F-4D97-AF65-F5344CB8AC3E}">
        <p14:creationId xmlns:p14="http://schemas.microsoft.com/office/powerpoint/2010/main" val="1263730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Análisis exploratorio de datos (EDA)</a:t>
            </a:r>
          </a:p>
        </p:txBody>
      </p:sp>
      <p:sp>
        <p:nvSpPr>
          <p:cNvPr id="9" name="Marcador de contenido 2">
            <a:extLst>
              <a:ext uri="{FF2B5EF4-FFF2-40B4-BE49-F238E27FC236}">
                <a16:creationId xmlns:a16="http://schemas.microsoft.com/office/drawing/2014/main" id="{A656F88F-B625-78A4-5A13-2C7203123624}"/>
              </a:ext>
            </a:extLst>
          </p:cNvPr>
          <p:cNvSpPr>
            <a:spLocks noGrp="1"/>
          </p:cNvSpPr>
          <p:nvPr>
            <p:ph idx="1"/>
          </p:nvPr>
        </p:nvSpPr>
        <p:spPr>
          <a:xfrm>
            <a:off x="838200" y="1970622"/>
            <a:ext cx="3525985" cy="3736655"/>
          </a:xfrm>
        </p:spPr>
        <p:txBody>
          <a:bodyPr>
            <a:noAutofit/>
          </a:bodyPr>
          <a:lstStyle/>
          <a:p>
            <a:pPr marL="0" indent="0" algn="just">
              <a:buNone/>
            </a:pPr>
            <a:r>
              <a:rPr lang="es-ES" sz="2000" b="0" dirty="0">
                <a:effectLst/>
                <a:latin typeface="Times New Roman" panose="02020603050405020304" pitchFamily="18" charset="0"/>
                <a:cs typeface="Times New Roman" panose="02020603050405020304" pitchFamily="18" charset="0"/>
              </a:rPr>
              <a:t>La grafica nos muestra que el tipo de dolor de pecho es un factor de riesgo para las enfermedades del corazón, ya que a medida que aumenta el tipo de dolor de pecho aumenta la presencia de enfermedades del corazón, ya que el tipo de dolor de pecho 0 (típico) es el que mas se relaciona con la presencia de enfermedades del corazón, de igual forma las edades con </a:t>
            </a:r>
            <a:r>
              <a:rPr lang="es-ES" sz="2000" b="0" dirty="0" err="1">
                <a:effectLst/>
                <a:latin typeface="Times New Roman" panose="02020603050405020304" pitchFamily="18" charset="0"/>
                <a:cs typeface="Times New Roman" panose="02020603050405020304" pitchFamily="18" charset="0"/>
              </a:rPr>
              <a:t>amyor</a:t>
            </a:r>
            <a:r>
              <a:rPr lang="es-ES" sz="2000" b="0" dirty="0">
                <a:effectLst/>
                <a:latin typeface="Times New Roman" panose="02020603050405020304" pitchFamily="18" charset="0"/>
                <a:cs typeface="Times New Roman" panose="02020603050405020304" pitchFamily="18" charset="0"/>
              </a:rPr>
              <a:t> </a:t>
            </a:r>
            <a:r>
              <a:rPr lang="es-ES" sz="2000" b="0" dirty="0" err="1">
                <a:effectLst/>
                <a:latin typeface="Times New Roman" panose="02020603050405020304" pitchFamily="18" charset="0"/>
                <a:cs typeface="Times New Roman" panose="02020603050405020304" pitchFamily="18" charset="0"/>
              </a:rPr>
              <a:t>correlacion</a:t>
            </a:r>
            <a:r>
              <a:rPr lang="es-ES" sz="2000" b="0" dirty="0">
                <a:effectLst/>
                <a:latin typeface="Times New Roman" panose="02020603050405020304" pitchFamily="18" charset="0"/>
                <a:cs typeface="Times New Roman" panose="02020603050405020304" pitchFamily="18" charset="0"/>
              </a:rPr>
              <a:t> son 32,40,48,56,64,72.</a:t>
            </a:r>
          </a:p>
        </p:txBody>
      </p:sp>
      <p:pic>
        <p:nvPicPr>
          <p:cNvPr id="4" name="Imagen 3">
            <a:extLst>
              <a:ext uri="{FF2B5EF4-FFF2-40B4-BE49-F238E27FC236}">
                <a16:creationId xmlns:a16="http://schemas.microsoft.com/office/drawing/2014/main" id="{FDD70FF2-5334-1512-A61E-FB4B06E750B3}"/>
              </a:ext>
            </a:extLst>
          </p:cNvPr>
          <p:cNvPicPr>
            <a:picLocks noChangeAspect="1"/>
          </p:cNvPicPr>
          <p:nvPr/>
        </p:nvPicPr>
        <p:blipFill>
          <a:blip r:embed="rId2"/>
          <a:stretch>
            <a:fillRect/>
          </a:stretch>
        </p:blipFill>
        <p:spPr>
          <a:xfrm>
            <a:off x="5319826" y="1340601"/>
            <a:ext cx="6165592" cy="4996698"/>
          </a:xfrm>
          <a:prstGeom prst="rect">
            <a:avLst/>
          </a:prstGeom>
        </p:spPr>
      </p:pic>
    </p:spTree>
    <p:extLst>
      <p:ext uri="{BB962C8B-B14F-4D97-AF65-F5344CB8AC3E}">
        <p14:creationId xmlns:p14="http://schemas.microsoft.com/office/powerpoint/2010/main" val="1076605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Pesos iniciales vs pesos finales</a:t>
            </a:r>
          </a:p>
        </p:txBody>
      </p:sp>
      <p:pic>
        <p:nvPicPr>
          <p:cNvPr id="5" name="Imagen 4">
            <a:extLst>
              <a:ext uri="{FF2B5EF4-FFF2-40B4-BE49-F238E27FC236}">
                <a16:creationId xmlns:a16="http://schemas.microsoft.com/office/drawing/2014/main" id="{BFB8632B-889A-BEA5-E8D7-61BE99BA6F8E}"/>
              </a:ext>
            </a:extLst>
          </p:cNvPr>
          <p:cNvPicPr>
            <a:picLocks noChangeAspect="1"/>
          </p:cNvPicPr>
          <p:nvPr/>
        </p:nvPicPr>
        <p:blipFill>
          <a:blip r:embed="rId2"/>
          <a:stretch>
            <a:fillRect/>
          </a:stretch>
        </p:blipFill>
        <p:spPr>
          <a:xfrm>
            <a:off x="3897552" y="1922346"/>
            <a:ext cx="3939934" cy="4027165"/>
          </a:xfrm>
          <a:prstGeom prst="rect">
            <a:avLst/>
          </a:prstGeom>
        </p:spPr>
      </p:pic>
      <p:pic>
        <p:nvPicPr>
          <p:cNvPr id="10" name="Imagen 9">
            <a:extLst>
              <a:ext uri="{FF2B5EF4-FFF2-40B4-BE49-F238E27FC236}">
                <a16:creationId xmlns:a16="http://schemas.microsoft.com/office/drawing/2014/main" id="{1B46AA46-DA08-4A40-1CDC-4B6B54BA6E01}"/>
              </a:ext>
            </a:extLst>
          </p:cNvPr>
          <p:cNvPicPr>
            <a:picLocks noChangeAspect="1"/>
          </p:cNvPicPr>
          <p:nvPr/>
        </p:nvPicPr>
        <p:blipFill>
          <a:blip r:embed="rId3"/>
          <a:stretch>
            <a:fillRect/>
          </a:stretch>
        </p:blipFill>
        <p:spPr>
          <a:xfrm>
            <a:off x="8069949" y="1922346"/>
            <a:ext cx="3939934" cy="4027165"/>
          </a:xfrm>
          <a:prstGeom prst="rect">
            <a:avLst/>
          </a:prstGeom>
        </p:spPr>
      </p:pic>
      <p:sp>
        <p:nvSpPr>
          <p:cNvPr id="11" name="Marcador de contenido 2">
            <a:extLst>
              <a:ext uri="{FF2B5EF4-FFF2-40B4-BE49-F238E27FC236}">
                <a16:creationId xmlns:a16="http://schemas.microsoft.com/office/drawing/2014/main" id="{0A273E4F-5AF5-A3A9-D5CE-D864A18FF802}"/>
              </a:ext>
            </a:extLst>
          </p:cNvPr>
          <p:cNvSpPr>
            <a:spLocks noGrp="1"/>
          </p:cNvSpPr>
          <p:nvPr>
            <p:ph idx="1"/>
          </p:nvPr>
        </p:nvSpPr>
        <p:spPr>
          <a:xfrm>
            <a:off x="473063" y="2067600"/>
            <a:ext cx="3016827" cy="3736655"/>
          </a:xfrm>
        </p:spPr>
        <p:txBody>
          <a:bodyPr>
            <a:noAutofit/>
          </a:bodyPr>
          <a:lstStyle/>
          <a:p>
            <a:pPr marL="0" indent="0" algn="just">
              <a:buNone/>
            </a:pPr>
            <a:r>
              <a:rPr lang="es-ES" sz="2000" b="0" dirty="0">
                <a:effectLst/>
                <a:latin typeface="Times New Roman" panose="02020603050405020304" pitchFamily="18" charset="0"/>
                <a:cs typeface="Times New Roman" panose="02020603050405020304" pitchFamily="18" charset="0"/>
              </a:rPr>
              <a:t>Los </a:t>
            </a:r>
            <a:r>
              <a:rPr lang="es-ES" sz="2000" b="1" dirty="0">
                <a:effectLst/>
                <a:latin typeface="Times New Roman" panose="02020603050405020304" pitchFamily="18" charset="0"/>
                <a:cs typeface="Times New Roman" panose="02020603050405020304" pitchFamily="18" charset="0"/>
              </a:rPr>
              <a:t>pesos iniciales del modelo </a:t>
            </a:r>
            <a:r>
              <a:rPr lang="es-ES" sz="2000" b="0" dirty="0">
                <a:effectLst/>
                <a:latin typeface="Times New Roman" panose="02020603050405020304" pitchFamily="18" charset="0"/>
                <a:cs typeface="Times New Roman" panose="02020603050405020304" pitchFamily="18" charset="0"/>
              </a:rPr>
              <a:t>de perceptrón se establecieron de manera aleatoria, lo que significa que </a:t>
            </a:r>
            <a:r>
              <a:rPr lang="es-ES" sz="2000" b="1" dirty="0">
                <a:effectLst/>
                <a:latin typeface="Times New Roman" panose="02020603050405020304" pitchFamily="18" charset="0"/>
                <a:cs typeface="Times New Roman" panose="02020603050405020304" pitchFamily="18" charset="0"/>
              </a:rPr>
              <a:t>no tenían una relación específica </a:t>
            </a:r>
            <a:r>
              <a:rPr lang="es-ES" sz="2000" b="0" dirty="0">
                <a:effectLst/>
                <a:latin typeface="Times New Roman" panose="02020603050405020304" pitchFamily="18" charset="0"/>
                <a:cs typeface="Times New Roman" panose="02020603050405020304" pitchFamily="18" charset="0"/>
              </a:rPr>
              <a:t>con las características del </a:t>
            </a:r>
            <a:r>
              <a:rPr lang="es-ES" sz="2000" b="0" dirty="0" err="1">
                <a:effectLst/>
                <a:latin typeface="Times New Roman" panose="02020603050405020304" pitchFamily="18" charset="0"/>
                <a:cs typeface="Times New Roman" panose="02020603050405020304" pitchFamily="18" charset="0"/>
              </a:rPr>
              <a:t>dataset</a:t>
            </a:r>
            <a:r>
              <a:rPr lang="es-ES" sz="2000" b="0" dirty="0">
                <a:effectLst/>
                <a:latin typeface="Times New Roman" panose="02020603050405020304" pitchFamily="18" charset="0"/>
                <a:cs typeface="Times New Roman" panose="02020603050405020304" pitchFamily="18" charset="0"/>
              </a:rPr>
              <a:t>. Sin embargo, después del proceso de entrenamiento, los </a:t>
            </a:r>
            <a:r>
              <a:rPr lang="es-ES" sz="2000" b="1" dirty="0">
                <a:effectLst/>
                <a:latin typeface="Times New Roman" panose="02020603050405020304" pitchFamily="18" charset="0"/>
                <a:cs typeface="Times New Roman" panose="02020603050405020304" pitchFamily="18" charset="0"/>
              </a:rPr>
              <a:t>pesos finales</a:t>
            </a:r>
            <a:r>
              <a:rPr lang="es-ES" sz="2000" b="0" dirty="0">
                <a:effectLst/>
                <a:latin typeface="Times New Roman" panose="02020603050405020304" pitchFamily="18" charset="0"/>
                <a:cs typeface="Times New Roman" panose="02020603050405020304" pitchFamily="18" charset="0"/>
              </a:rPr>
              <a:t> reflejan la </a:t>
            </a:r>
            <a:r>
              <a:rPr lang="es-ES" sz="2000" b="1" dirty="0">
                <a:effectLst/>
                <a:latin typeface="Times New Roman" panose="02020603050405020304" pitchFamily="18" charset="0"/>
                <a:cs typeface="Times New Roman" panose="02020603050405020304" pitchFamily="18" charset="0"/>
              </a:rPr>
              <a:t>importancia relativa </a:t>
            </a:r>
            <a:r>
              <a:rPr lang="es-ES" sz="2000" b="0" dirty="0">
                <a:effectLst/>
                <a:latin typeface="Times New Roman" panose="02020603050405020304" pitchFamily="18" charset="0"/>
                <a:cs typeface="Times New Roman" panose="02020603050405020304" pitchFamily="18" charset="0"/>
              </a:rPr>
              <a:t>de cada característica para </a:t>
            </a:r>
            <a:r>
              <a:rPr lang="es-ES" sz="2000" b="1" dirty="0">
                <a:effectLst/>
                <a:latin typeface="Times New Roman" panose="02020603050405020304" pitchFamily="18" charset="0"/>
                <a:cs typeface="Times New Roman" panose="02020603050405020304" pitchFamily="18" charset="0"/>
              </a:rPr>
              <a:t>predecir la presencia de enfermedad cardíaca.</a:t>
            </a:r>
          </a:p>
        </p:txBody>
      </p:sp>
    </p:spTree>
    <p:extLst>
      <p:ext uri="{BB962C8B-B14F-4D97-AF65-F5344CB8AC3E}">
        <p14:creationId xmlns:p14="http://schemas.microsoft.com/office/powerpoint/2010/main" val="547959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latin typeface="Times New Roman" panose="02020603050405020304" pitchFamily="18" charset="0"/>
                <a:cs typeface="Times New Roman" panose="02020603050405020304" pitchFamily="18" charset="0"/>
              </a:rPr>
              <a:t>Grafica de la curva del error (</a:t>
            </a:r>
            <a:r>
              <a:rPr lang="es-ES" dirty="0" err="1">
                <a:latin typeface="Times New Roman" panose="02020603050405020304" pitchFamily="18" charset="0"/>
                <a:cs typeface="Times New Roman" panose="02020603050405020304" pitchFamily="18" charset="0"/>
              </a:rPr>
              <a:t>loss</a:t>
            </a:r>
            <a:r>
              <a:rPr lang="es-ES" dirty="0">
                <a:latin typeface="Times New Roman" panose="02020603050405020304" pitchFamily="18" charset="0"/>
                <a:cs typeface="Times New Roman" panose="02020603050405020304" pitchFamily="18" charset="0"/>
              </a:rPr>
              <a:t>)</a:t>
            </a:r>
            <a:endParaRPr lang="es-ES" dirty="0">
              <a:effectLst/>
              <a:latin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5D73C83D-4F1A-611F-4C94-6B6ED82EA304}"/>
              </a:ext>
            </a:extLst>
          </p:cNvPr>
          <p:cNvPicPr>
            <a:picLocks noChangeAspect="1"/>
          </p:cNvPicPr>
          <p:nvPr/>
        </p:nvPicPr>
        <p:blipFill>
          <a:blip r:embed="rId2"/>
          <a:stretch>
            <a:fillRect/>
          </a:stretch>
        </p:blipFill>
        <p:spPr>
          <a:xfrm>
            <a:off x="5597237" y="1501698"/>
            <a:ext cx="6308285" cy="4677428"/>
          </a:xfrm>
          <a:prstGeom prst="rect">
            <a:avLst/>
          </a:prstGeom>
        </p:spPr>
      </p:pic>
      <p:sp>
        <p:nvSpPr>
          <p:cNvPr id="8" name="Marcador de contenido 2">
            <a:extLst>
              <a:ext uri="{FF2B5EF4-FFF2-40B4-BE49-F238E27FC236}">
                <a16:creationId xmlns:a16="http://schemas.microsoft.com/office/drawing/2014/main" id="{4A7B0B6A-BE4A-1EEC-4792-28AF43BC0862}"/>
              </a:ext>
            </a:extLst>
          </p:cNvPr>
          <p:cNvSpPr>
            <a:spLocks noGrp="1"/>
          </p:cNvSpPr>
          <p:nvPr>
            <p:ph idx="1"/>
          </p:nvPr>
        </p:nvSpPr>
        <p:spPr>
          <a:xfrm>
            <a:off x="838200" y="2276659"/>
            <a:ext cx="4087091" cy="2807960"/>
          </a:xfrm>
        </p:spPr>
        <p:txBody>
          <a:bodyPr>
            <a:noAutofit/>
          </a:bodyPr>
          <a:lstStyle/>
          <a:p>
            <a:pPr marL="0" indent="0" algn="just">
              <a:buNone/>
            </a:pPr>
            <a:r>
              <a:rPr lang="es-ES" sz="2000" dirty="0">
                <a:latin typeface="Times New Roman" panose="02020603050405020304" pitchFamily="18" charset="0"/>
                <a:cs typeface="Times New Roman" panose="02020603050405020304" pitchFamily="18" charset="0"/>
              </a:rPr>
              <a:t>M</a:t>
            </a:r>
            <a:r>
              <a:rPr lang="es-ES" sz="2000" dirty="0">
                <a:effectLst/>
                <a:latin typeface="Times New Roman" panose="02020603050405020304" pitchFamily="18" charset="0"/>
                <a:cs typeface="Times New Roman" panose="02020603050405020304" pitchFamily="18" charset="0"/>
              </a:rPr>
              <a:t>uestra como va disminuyendo la perdida a medida que se van entrenando las </a:t>
            </a:r>
            <a:r>
              <a:rPr lang="es-ES" sz="2000" dirty="0" err="1">
                <a:effectLst/>
                <a:latin typeface="Times New Roman" panose="02020603050405020304" pitchFamily="18" charset="0"/>
                <a:cs typeface="Times New Roman" panose="02020603050405020304" pitchFamily="18" charset="0"/>
              </a:rPr>
              <a:t>epocas</a:t>
            </a:r>
            <a:r>
              <a:rPr lang="es-ES" sz="2000" dirty="0">
                <a:effectLst/>
                <a:latin typeface="Times New Roman" panose="02020603050405020304" pitchFamily="18" charset="0"/>
                <a:cs typeface="Times New Roman" panose="02020603050405020304" pitchFamily="18" charset="0"/>
              </a:rPr>
              <a:t>, lo que nos indica que el modelo esta aprendiendo a predecir mejor la presencia de enfermedades del corazón, ya que a medida que disminuye la perdida el modelo se va ajustando mejor a los datos de entrenamiento.</a:t>
            </a:r>
            <a:endParaRPr lang="es-CO"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840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Diferencia entre </a:t>
            </a:r>
            <a:r>
              <a:rPr lang="es-ES" dirty="0" err="1">
                <a:effectLst/>
                <a:latin typeface="Times New Roman" panose="02020603050405020304" pitchFamily="18" charset="0"/>
                <a:cs typeface="Times New Roman" panose="02020603050405020304" pitchFamily="18" charset="0"/>
              </a:rPr>
              <a:t>y_train</a:t>
            </a:r>
            <a:r>
              <a:rPr lang="es-ES" dirty="0">
                <a:effectLst/>
                <a:latin typeface="Times New Roman" panose="02020603050405020304" pitchFamily="18" charset="0"/>
                <a:cs typeface="Times New Roman" panose="02020603050405020304" pitchFamily="18" charset="0"/>
              </a:rPr>
              <a:t> y </a:t>
            </a:r>
            <a:r>
              <a:rPr lang="es-ES" dirty="0" err="1">
                <a:effectLst/>
                <a:latin typeface="Times New Roman" panose="02020603050405020304" pitchFamily="18" charset="0"/>
                <a:cs typeface="Times New Roman" panose="02020603050405020304" pitchFamily="18" charset="0"/>
              </a:rPr>
              <a:t>y_test</a:t>
            </a:r>
            <a:endParaRPr lang="es-ES" dirty="0">
              <a:effectLst/>
              <a:latin typeface="Times New Roman" panose="02020603050405020304" pitchFamily="18" charset="0"/>
              <a:cs typeface="Times New Roman" panose="02020603050405020304" pitchFamily="18" charset="0"/>
            </a:endParaRPr>
          </a:p>
        </p:txBody>
      </p:sp>
      <p:sp>
        <p:nvSpPr>
          <p:cNvPr id="8" name="Marcador de contenido 2">
            <a:extLst>
              <a:ext uri="{FF2B5EF4-FFF2-40B4-BE49-F238E27FC236}">
                <a16:creationId xmlns:a16="http://schemas.microsoft.com/office/drawing/2014/main" id="{4A7B0B6A-BE4A-1EEC-4792-28AF43BC0862}"/>
              </a:ext>
            </a:extLst>
          </p:cNvPr>
          <p:cNvSpPr>
            <a:spLocks noGrp="1"/>
          </p:cNvSpPr>
          <p:nvPr>
            <p:ph idx="1"/>
          </p:nvPr>
        </p:nvSpPr>
        <p:spPr>
          <a:xfrm>
            <a:off x="838200" y="2068841"/>
            <a:ext cx="4087091" cy="3736214"/>
          </a:xfrm>
        </p:spPr>
        <p:txBody>
          <a:bodyPr>
            <a:noAutofit/>
          </a:bodyPr>
          <a:lstStyle/>
          <a:p>
            <a:pPr marL="0" indent="0" algn="just">
              <a:buNone/>
            </a:pPr>
            <a:r>
              <a:rPr lang="es-ES" sz="2000" b="1" dirty="0" err="1">
                <a:latin typeface="Times New Roman" panose="02020603050405020304" pitchFamily="18" charset="0"/>
                <a:cs typeface="Times New Roman" panose="02020603050405020304" pitchFamily="18" charset="0"/>
              </a:rPr>
              <a:t>y_test</a:t>
            </a:r>
            <a:r>
              <a:rPr lang="es-ES" sz="2000" b="1" dirty="0">
                <a:latin typeface="Times New Roman" panose="02020603050405020304" pitchFamily="18" charset="0"/>
                <a:cs typeface="Times New Roman" panose="02020603050405020304" pitchFamily="18" charset="0"/>
              </a:rPr>
              <a:t>: </a:t>
            </a:r>
            <a:r>
              <a:rPr lang="es-ES" sz="2000" dirty="0">
                <a:latin typeface="Times New Roman" panose="02020603050405020304" pitchFamily="18" charset="0"/>
                <a:cs typeface="Times New Roman" panose="02020603050405020304" pitchFamily="18" charset="0"/>
              </a:rPr>
              <a:t>corresponde a las etiquetas de clase para el conjunto de prueba, que se utiliza para </a:t>
            </a:r>
            <a:r>
              <a:rPr lang="es-ES" sz="2000" b="1" dirty="0">
                <a:latin typeface="Times New Roman" panose="02020603050405020304" pitchFamily="18" charset="0"/>
                <a:cs typeface="Times New Roman" panose="02020603050405020304" pitchFamily="18" charset="0"/>
              </a:rPr>
              <a:t>evaluar el rendimiento </a:t>
            </a:r>
            <a:r>
              <a:rPr lang="es-ES" sz="2000" dirty="0">
                <a:latin typeface="Times New Roman" panose="02020603050405020304" pitchFamily="18" charset="0"/>
                <a:cs typeface="Times New Roman" panose="02020603050405020304" pitchFamily="18" charset="0"/>
              </a:rPr>
              <a:t>del modelo </a:t>
            </a:r>
            <a:r>
              <a:rPr lang="es-ES" sz="2000" b="1" dirty="0">
                <a:latin typeface="Times New Roman" panose="02020603050405020304" pitchFamily="18" charset="0"/>
                <a:cs typeface="Times New Roman" panose="02020603050405020304" pitchFamily="18" charset="0"/>
              </a:rPr>
              <a:t>después de haber sido entrenado.</a:t>
            </a:r>
          </a:p>
          <a:p>
            <a:pPr marL="0" indent="0" algn="just">
              <a:buNone/>
            </a:pPr>
            <a:endParaRPr lang="es-ES" sz="2000" dirty="0">
              <a:effectLst/>
              <a:latin typeface="Times New Roman" panose="02020603050405020304" pitchFamily="18" charset="0"/>
              <a:cs typeface="Times New Roman" panose="02020603050405020304" pitchFamily="18" charset="0"/>
            </a:endParaRPr>
          </a:p>
          <a:p>
            <a:pPr marL="0" indent="0" algn="just">
              <a:buNone/>
            </a:pPr>
            <a:r>
              <a:rPr lang="es-ES" sz="2000" b="1" dirty="0" err="1">
                <a:latin typeface="Times New Roman" panose="02020603050405020304" pitchFamily="18" charset="0"/>
                <a:cs typeface="Times New Roman" panose="02020603050405020304" pitchFamily="18" charset="0"/>
              </a:rPr>
              <a:t>y_train</a:t>
            </a:r>
            <a:r>
              <a:rPr lang="es-ES" sz="2000" b="1" dirty="0">
                <a:latin typeface="Times New Roman" panose="02020603050405020304" pitchFamily="18" charset="0"/>
                <a:cs typeface="Times New Roman" panose="02020603050405020304" pitchFamily="18" charset="0"/>
              </a:rPr>
              <a:t>: </a:t>
            </a:r>
            <a:r>
              <a:rPr lang="es-ES" sz="2000" dirty="0">
                <a:latin typeface="Times New Roman" panose="02020603050405020304" pitchFamily="18" charset="0"/>
                <a:cs typeface="Times New Roman" panose="02020603050405020304" pitchFamily="18" charset="0"/>
              </a:rPr>
              <a:t>corresponde a las etiquetas de clase (diagnóstico de enfermedad cardíaca) para el conjunto de entrenamiento, que se utiliza para </a:t>
            </a:r>
            <a:r>
              <a:rPr lang="es-ES" sz="2000" b="1" dirty="0">
                <a:latin typeface="Times New Roman" panose="02020603050405020304" pitchFamily="18" charset="0"/>
                <a:cs typeface="Times New Roman" panose="02020603050405020304" pitchFamily="18" charset="0"/>
              </a:rPr>
              <a:t>ajustar los pesos </a:t>
            </a:r>
            <a:r>
              <a:rPr lang="es-ES" sz="2000" dirty="0">
                <a:latin typeface="Times New Roman" panose="02020603050405020304" pitchFamily="18" charset="0"/>
                <a:cs typeface="Times New Roman" panose="02020603050405020304" pitchFamily="18" charset="0"/>
              </a:rPr>
              <a:t>del modelo </a:t>
            </a:r>
            <a:r>
              <a:rPr lang="es-ES" sz="2000" b="1" dirty="0">
                <a:latin typeface="Times New Roman" panose="02020603050405020304" pitchFamily="18" charset="0"/>
                <a:cs typeface="Times New Roman" panose="02020603050405020304" pitchFamily="18" charset="0"/>
              </a:rPr>
              <a:t>durante el proceso de entrenamiento.</a:t>
            </a:r>
          </a:p>
        </p:txBody>
      </p:sp>
      <p:pic>
        <p:nvPicPr>
          <p:cNvPr id="4" name="Imagen 3">
            <a:extLst>
              <a:ext uri="{FF2B5EF4-FFF2-40B4-BE49-F238E27FC236}">
                <a16:creationId xmlns:a16="http://schemas.microsoft.com/office/drawing/2014/main" id="{EAFE0A55-9848-44FB-D7A5-423722EFBC56}"/>
              </a:ext>
            </a:extLst>
          </p:cNvPr>
          <p:cNvPicPr>
            <a:picLocks noChangeAspect="1"/>
          </p:cNvPicPr>
          <p:nvPr/>
        </p:nvPicPr>
        <p:blipFill>
          <a:blip r:embed="rId2"/>
          <a:stretch>
            <a:fillRect/>
          </a:stretch>
        </p:blipFill>
        <p:spPr>
          <a:xfrm>
            <a:off x="6319507" y="2317472"/>
            <a:ext cx="4734586" cy="3238952"/>
          </a:xfrm>
          <a:prstGeom prst="rect">
            <a:avLst/>
          </a:prstGeom>
        </p:spPr>
      </p:pic>
    </p:spTree>
    <p:extLst>
      <p:ext uri="{BB962C8B-B14F-4D97-AF65-F5344CB8AC3E}">
        <p14:creationId xmlns:p14="http://schemas.microsoft.com/office/powerpoint/2010/main" val="465923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47105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Evaluación de valores de perdida y precisión (con el uso de </a:t>
            </a:r>
            <a:r>
              <a:rPr lang="es-ES" dirty="0" err="1">
                <a:effectLst/>
                <a:latin typeface="Times New Roman" panose="02020603050405020304" pitchFamily="18" charset="0"/>
                <a:cs typeface="Times New Roman" panose="02020603050405020304" pitchFamily="18" charset="0"/>
              </a:rPr>
              <a:t>y_test</a:t>
            </a:r>
            <a:r>
              <a:rPr lang="es-ES" dirty="0">
                <a:effectLst/>
                <a:latin typeface="Times New Roman" panose="02020603050405020304" pitchFamily="18" charset="0"/>
                <a:cs typeface="Times New Roman" panose="02020603050405020304" pitchFamily="18" charset="0"/>
              </a:rPr>
              <a:t>)</a:t>
            </a:r>
          </a:p>
        </p:txBody>
      </p:sp>
      <p:sp>
        <p:nvSpPr>
          <p:cNvPr id="8" name="Marcador de contenido 2">
            <a:extLst>
              <a:ext uri="{FF2B5EF4-FFF2-40B4-BE49-F238E27FC236}">
                <a16:creationId xmlns:a16="http://schemas.microsoft.com/office/drawing/2014/main" id="{4A7B0B6A-BE4A-1EEC-4792-28AF43BC0862}"/>
              </a:ext>
            </a:extLst>
          </p:cNvPr>
          <p:cNvSpPr>
            <a:spLocks noGrp="1"/>
          </p:cNvSpPr>
          <p:nvPr>
            <p:ph idx="1"/>
          </p:nvPr>
        </p:nvSpPr>
        <p:spPr>
          <a:xfrm>
            <a:off x="838200" y="2136318"/>
            <a:ext cx="4994564" cy="2807960"/>
          </a:xfrm>
        </p:spPr>
        <p:txBody>
          <a:bodyPr>
            <a:noAutofit/>
          </a:bodyPr>
          <a:lstStyle/>
          <a:p>
            <a:pPr marL="0" indent="0" algn="just">
              <a:buNone/>
            </a:pPr>
            <a:r>
              <a:rPr lang="es-ES" sz="2000" b="1" dirty="0">
                <a:latin typeface="Times New Roman" panose="02020603050405020304" pitchFamily="18" charset="0"/>
                <a:cs typeface="Times New Roman" panose="02020603050405020304" pitchFamily="18" charset="0"/>
              </a:rPr>
              <a:t>La pérdida (</a:t>
            </a:r>
            <a:r>
              <a:rPr lang="es-ES" sz="2000" b="1" dirty="0" err="1">
                <a:latin typeface="Times New Roman" panose="02020603050405020304" pitchFamily="18" charset="0"/>
                <a:cs typeface="Times New Roman" panose="02020603050405020304" pitchFamily="18" charset="0"/>
              </a:rPr>
              <a:t>loss</a:t>
            </a:r>
            <a:r>
              <a:rPr lang="es-ES" sz="2000" b="1" dirty="0">
                <a:latin typeface="Times New Roman" panose="02020603050405020304" pitchFamily="18" charset="0"/>
                <a:cs typeface="Times New Roman" panose="02020603050405020304" pitchFamily="18" charset="0"/>
              </a:rPr>
              <a:t>): </a:t>
            </a:r>
            <a:r>
              <a:rPr lang="es-ES" sz="2000" dirty="0">
                <a:latin typeface="Times New Roman" panose="02020603050405020304" pitchFamily="18" charset="0"/>
                <a:cs typeface="Times New Roman" panose="02020603050405020304" pitchFamily="18" charset="0"/>
              </a:rPr>
              <a:t>Mide la diferencia entre las probabilidades predichas por el modelo y las etiquetas reales. Al tener un valor de pérdida más bajo indica que el modelo está haciendo mejores predicciones en el conjunto de entrenamiento en este caso </a:t>
            </a:r>
            <a:r>
              <a:rPr lang="es-ES" sz="2000" b="1" dirty="0">
                <a:latin typeface="Times New Roman" panose="02020603050405020304" pitchFamily="18" charset="0"/>
                <a:cs typeface="Times New Roman" panose="02020603050405020304" pitchFamily="18" charset="0"/>
              </a:rPr>
              <a:t>0,42339.</a:t>
            </a:r>
          </a:p>
          <a:p>
            <a:pPr marL="0" indent="0" algn="just">
              <a:buNone/>
            </a:pPr>
            <a:endParaRPr lang="es-ES" sz="2000" b="1" dirty="0">
              <a:effectLst/>
              <a:latin typeface="Times New Roman" panose="02020603050405020304" pitchFamily="18" charset="0"/>
              <a:cs typeface="Times New Roman" panose="02020603050405020304" pitchFamily="18" charset="0"/>
            </a:endParaRPr>
          </a:p>
          <a:p>
            <a:pPr marL="0" indent="0" algn="just">
              <a:buNone/>
            </a:pPr>
            <a:r>
              <a:rPr lang="es-ES" sz="2000" b="1" dirty="0">
                <a:effectLst/>
                <a:latin typeface="Times New Roman" panose="02020603050405020304" pitchFamily="18" charset="0"/>
                <a:cs typeface="Times New Roman" panose="02020603050405020304" pitchFamily="18" charset="0"/>
              </a:rPr>
              <a:t>La precisión (</a:t>
            </a:r>
            <a:r>
              <a:rPr lang="es-ES" sz="2000" b="1" dirty="0" err="1">
                <a:effectLst/>
                <a:latin typeface="Times New Roman" panose="02020603050405020304" pitchFamily="18" charset="0"/>
                <a:cs typeface="Times New Roman" panose="02020603050405020304" pitchFamily="18" charset="0"/>
              </a:rPr>
              <a:t>accuracy</a:t>
            </a:r>
            <a:r>
              <a:rPr lang="es-ES" sz="2000" b="1" dirty="0">
                <a:effectLst/>
                <a:latin typeface="Times New Roman" panose="02020603050405020304" pitchFamily="18" charset="0"/>
                <a:cs typeface="Times New Roman" panose="02020603050405020304" pitchFamily="18" charset="0"/>
              </a:rPr>
              <a:t>): </a:t>
            </a:r>
            <a:r>
              <a:rPr lang="es-ES" sz="2000" dirty="0">
                <a:effectLst/>
                <a:latin typeface="Times New Roman" panose="02020603050405020304" pitchFamily="18" charset="0"/>
                <a:cs typeface="Times New Roman" panose="02020603050405020304" pitchFamily="18" charset="0"/>
              </a:rPr>
              <a:t>Se calcula como el número de predicciones correctas dividido por el número total de predicciones. Una precisión más alta indica que el modelo está teniendo éxito en identificar correctamente la presencia o ausencia de enfermedad cardíaca en este caso contamos con un </a:t>
            </a:r>
            <a:r>
              <a:rPr lang="es-ES" sz="2000" b="1" dirty="0">
                <a:latin typeface="Times New Roman" panose="02020603050405020304" pitchFamily="18" charset="0"/>
                <a:cs typeface="Times New Roman" panose="02020603050405020304" pitchFamily="18" charset="0"/>
              </a:rPr>
              <a:t>78</a:t>
            </a:r>
            <a:r>
              <a:rPr lang="es-ES" sz="2000" b="1" dirty="0">
                <a:effectLst/>
                <a:latin typeface="Times New Roman" panose="02020603050405020304" pitchFamily="18" charset="0"/>
                <a:cs typeface="Times New Roman" panose="02020603050405020304" pitchFamily="18" charset="0"/>
              </a:rPr>
              <a:t>,05%.</a:t>
            </a:r>
            <a:endParaRPr lang="es-CO" sz="2000" b="1" dirty="0">
              <a:effectLst/>
              <a:latin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B53A821F-22CB-5238-C6BA-4015E784F127}"/>
              </a:ext>
            </a:extLst>
          </p:cNvPr>
          <p:cNvPicPr>
            <a:picLocks noChangeAspect="1"/>
          </p:cNvPicPr>
          <p:nvPr/>
        </p:nvPicPr>
        <p:blipFill>
          <a:blip r:embed="rId2"/>
          <a:stretch>
            <a:fillRect/>
          </a:stretch>
        </p:blipFill>
        <p:spPr>
          <a:xfrm>
            <a:off x="6359236" y="2789277"/>
            <a:ext cx="4994564" cy="2527278"/>
          </a:xfrm>
          <a:prstGeom prst="rect">
            <a:avLst/>
          </a:prstGeom>
        </p:spPr>
      </p:pic>
      <p:pic>
        <p:nvPicPr>
          <p:cNvPr id="5" name="Imagen 4">
            <a:extLst>
              <a:ext uri="{FF2B5EF4-FFF2-40B4-BE49-F238E27FC236}">
                <a16:creationId xmlns:a16="http://schemas.microsoft.com/office/drawing/2014/main" id="{7266C6C6-098D-8305-B849-31579EA97830}"/>
              </a:ext>
            </a:extLst>
          </p:cNvPr>
          <p:cNvPicPr>
            <a:picLocks noChangeAspect="1"/>
          </p:cNvPicPr>
          <p:nvPr/>
        </p:nvPicPr>
        <p:blipFill>
          <a:blip r:embed="rId3"/>
          <a:stretch>
            <a:fillRect/>
          </a:stretch>
        </p:blipFill>
        <p:spPr>
          <a:xfrm>
            <a:off x="6359236" y="2789276"/>
            <a:ext cx="4994564" cy="2527277"/>
          </a:xfrm>
          <a:prstGeom prst="rect">
            <a:avLst/>
          </a:prstGeom>
        </p:spPr>
      </p:pic>
    </p:spTree>
    <p:extLst>
      <p:ext uri="{BB962C8B-B14F-4D97-AF65-F5344CB8AC3E}">
        <p14:creationId xmlns:p14="http://schemas.microsoft.com/office/powerpoint/2010/main" val="713527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471055"/>
            <a:ext cx="10515600" cy="870312"/>
          </a:xfrm>
        </p:spPr>
        <p:txBody>
          <a:bodyPr>
            <a:noAutofit/>
          </a:bodyPr>
          <a:lstStyle/>
          <a:p>
            <a:r>
              <a:rPr lang="es-ES" dirty="0">
                <a:effectLst/>
                <a:latin typeface="Times New Roman" panose="02020603050405020304" pitchFamily="18" charset="0"/>
                <a:cs typeface="Times New Roman" panose="02020603050405020304" pitchFamily="18" charset="0"/>
              </a:rPr>
              <a:t>Evaluación de valores de perdida y precisión (con el uso de </a:t>
            </a:r>
            <a:r>
              <a:rPr lang="es-ES" dirty="0" err="1">
                <a:effectLst/>
                <a:latin typeface="Times New Roman" panose="02020603050405020304" pitchFamily="18" charset="0"/>
                <a:cs typeface="Times New Roman" panose="02020603050405020304" pitchFamily="18" charset="0"/>
              </a:rPr>
              <a:t>y_train</a:t>
            </a:r>
            <a:r>
              <a:rPr lang="es-ES" dirty="0">
                <a:effectLst/>
                <a:latin typeface="Times New Roman" panose="02020603050405020304" pitchFamily="18" charset="0"/>
                <a:cs typeface="Times New Roman" panose="02020603050405020304" pitchFamily="18" charset="0"/>
              </a:rPr>
              <a:t>)</a:t>
            </a:r>
          </a:p>
        </p:txBody>
      </p:sp>
      <p:sp>
        <p:nvSpPr>
          <p:cNvPr id="8" name="Marcador de contenido 2">
            <a:extLst>
              <a:ext uri="{FF2B5EF4-FFF2-40B4-BE49-F238E27FC236}">
                <a16:creationId xmlns:a16="http://schemas.microsoft.com/office/drawing/2014/main" id="{4A7B0B6A-BE4A-1EEC-4792-28AF43BC0862}"/>
              </a:ext>
            </a:extLst>
          </p:cNvPr>
          <p:cNvSpPr>
            <a:spLocks noGrp="1"/>
          </p:cNvSpPr>
          <p:nvPr>
            <p:ph idx="1"/>
          </p:nvPr>
        </p:nvSpPr>
        <p:spPr>
          <a:xfrm>
            <a:off x="838200" y="2136318"/>
            <a:ext cx="4994564" cy="2807960"/>
          </a:xfrm>
        </p:spPr>
        <p:txBody>
          <a:bodyPr>
            <a:noAutofit/>
          </a:bodyPr>
          <a:lstStyle/>
          <a:p>
            <a:pPr marL="0" indent="0" algn="just">
              <a:buNone/>
            </a:pPr>
            <a:r>
              <a:rPr lang="es-ES" sz="2000" b="1" dirty="0">
                <a:latin typeface="Times New Roman" panose="02020603050405020304" pitchFamily="18" charset="0"/>
                <a:cs typeface="Times New Roman" panose="02020603050405020304" pitchFamily="18" charset="0"/>
              </a:rPr>
              <a:t>La pérdida (</a:t>
            </a:r>
            <a:r>
              <a:rPr lang="es-ES" sz="2000" b="1" dirty="0" err="1">
                <a:latin typeface="Times New Roman" panose="02020603050405020304" pitchFamily="18" charset="0"/>
                <a:cs typeface="Times New Roman" panose="02020603050405020304" pitchFamily="18" charset="0"/>
              </a:rPr>
              <a:t>loss</a:t>
            </a:r>
            <a:r>
              <a:rPr lang="es-ES" sz="2000" b="1" dirty="0">
                <a:latin typeface="Times New Roman" panose="02020603050405020304" pitchFamily="18" charset="0"/>
                <a:cs typeface="Times New Roman" panose="02020603050405020304" pitchFamily="18" charset="0"/>
              </a:rPr>
              <a:t>): </a:t>
            </a:r>
            <a:r>
              <a:rPr lang="es-ES" sz="2000" dirty="0">
                <a:latin typeface="Times New Roman" panose="02020603050405020304" pitchFamily="18" charset="0"/>
                <a:cs typeface="Times New Roman" panose="02020603050405020304" pitchFamily="18" charset="0"/>
              </a:rPr>
              <a:t>Mide la diferencia entre las probabilidades predichas por el modelo y las etiquetas reales. Al tener un valor de pérdida más bajo indica que el modelo está haciendo mejores predicciones en el conjunto de entrenamiento en este caso </a:t>
            </a:r>
            <a:r>
              <a:rPr lang="es-ES" sz="2000" b="1" dirty="0">
                <a:latin typeface="Times New Roman" panose="02020603050405020304" pitchFamily="18" charset="0"/>
                <a:cs typeface="Times New Roman" panose="02020603050405020304" pitchFamily="18" charset="0"/>
              </a:rPr>
              <a:t>0,347054.</a:t>
            </a:r>
          </a:p>
          <a:p>
            <a:pPr marL="0" indent="0" algn="just">
              <a:buNone/>
            </a:pPr>
            <a:endParaRPr lang="es-ES" sz="2000" b="1" dirty="0">
              <a:effectLst/>
              <a:latin typeface="Times New Roman" panose="02020603050405020304" pitchFamily="18" charset="0"/>
              <a:cs typeface="Times New Roman" panose="02020603050405020304" pitchFamily="18" charset="0"/>
            </a:endParaRPr>
          </a:p>
          <a:p>
            <a:pPr marL="0" indent="0" algn="just">
              <a:buNone/>
            </a:pPr>
            <a:r>
              <a:rPr lang="es-ES" sz="2000" b="1" dirty="0">
                <a:effectLst/>
                <a:latin typeface="Times New Roman" panose="02020603050405020304" pitchFamily="18" charset="0"/>
                <a:cs typeface="Times New Roman" panose="02020603050405020304" pitchFamily="18" charset="0"/>
              </a:rPr>
              <a:t>La precisión (</a:t>
            </a:r>
            <a:r>
              <a:rPr lang="es-ES" sz="2000" b="1" dirty="0" err="1">
                <a:effectLst/>
                <a:latin typeface="Times New Roman" panose="02020603050405020304" pitchFamily="18" charset="0"/>
                <a:cs typeface="Times New Roman" panose="02020603050405020304" pitchFamily="18" charset="0"/>
              </a:rPr>
              <a:t>accuracy</a:t>
            </a:r>
            <a:r>
              <a:rPr lang="es-ES" sz="2000" b="1" dirty="0">
                <a:effectLst/>
                <a:latin typeface="Times New Roman" panose="02020603050405020304" pitchFamily="18" charset="0"/>
                <a:cs typeface="Times New Roman" panose="02020603050405020304" pitchFamily="18" charset="0"/>
              </a:rPr>
              <a:t>): </a:t>
            </a:r>
            <a:r>
              <a:rPr lang="es-ES" sz="2000" dirty="0">
                <a:effectLst/>
                <a:latin typeface="Times New Roman" panose="02020603050405020304" pitchFamily="18" charset="0"/>
                <a:cs typeface="Times New Roman" panose="02020603050405020304" pitchFamily="18" charset="0"/>
              </a:rPr>
              <a:t>Se calcula como el número de predicciones correctas dividido por el número total de predicciones. Una precisión más alta indica que el modelo está teniendo éxito en identificar correctamente la presencia o ausencia de enfermedad cardíaca en este caso contamos con un </a:t>
            </a:r>
            <a:r>
              <a:rPr lang="es-ES" sz="2000" b="1" dirty="0">
                <a:effectLst/>
                <a:latin typeface="Times New Roman" panose="02020603050405020304" pitchFamily="18" charset="0"/>
                <a:cs typeface="Times New Roman" panose="02020603050405020304" pitchFamily="18" charset="0"/>
              </a:rPr>
              <a:t>85,12%.</a:t>
            </a:r>
            <a:endParaRPr lang="es-CO" sz="2000" b="1" dirty="0">
              <a:effectLst/>
              <a:latin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B53A821F-22CB-5238-C6BA-4015E784F127}"/>
              </a:ext>
            </a:extLst>
          </p:cNvPr>
          <p:cNvPicPr>
            <a:picLocks noChangeAspect="1"/>
          </p:cNvPicPr>
          <p:nvPr/>
        </p:nvPicPr>
        <p:blipFill>
          <a:blip r:embed="rId2"/>
          <a:stretch>
            <a:fillRect/>
          </a:stretch>
        </p:blipFill>
        <p:spPr>
          <a:xfrm>
            <a:off x="6359236" y="2789277"/>
            <a:ext cx="4994564" cy="2527278"/>
          </a:xfrm>
          <a:prstGeom prst="rect">
            <a:avLst/>
          </a:prstGeom>
        </p:spPr>
      </p:pic>
    </p:spTree>
    <p:extLst>
      <p:ext uri="{BB962C8B-B14F-4D97-AF65-F5344CB8AC3E}">
        <p14:creationId xmlns:p14="http://schemas.microsoft.com/office/powerpoint/2010/main" val="1197770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32505"/>
            <a:ext cx="10515600" cy="870312"/>
          </a:xfrm>
        </p:spPr>
        <p:txBody>
          <a:bodyPr>
            <a:noAutofit/>
          </a:bodyPr>
          <a:lstStyle/>
          <a:p>
            <a:r>
              <a:rPr lang="es-ES" dirty="0">
                <a:latin typeface="Times New Roman" panose="02020603050405020304" pitchFamily="18" charset="0"/>
                <a:cs typeface="Times New Roman" panose="02020603050405020304" pitchFamily="18" charset="0"/>
              </a:rPr>
              <a:t>Matriz de confusión (clasificación)</a:t>
            </a:r>
            <a:endParaRPr lang="es-ES" dirty="0">
              <a:effectLst/>
              <a:latin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0BD8DCEC-7E3B-AB22-D6F4-B33EDDD16A23}"/>
              </a:ext>
            </a:extLst>
          </p:cNvPr>
          <p:cNvPicPr>
            <a:picLocks noChangeAspect="1"/>
          </p:cNvPicPr>
          <p:nvPr/>
        </p:nvPicPr>
        <p:blipFill>
          <a:blip r:embed="rId2"/>
          <a:stretch>
            <a:fillRect/>
          </a:stretch>
        </p:blipFill>
        <p:spPr>
          <a:xfrm>
            <a:off x="6315678" y="1556662"/>
            <a:ext cx="4908254" cy="4511628"/>
          </a:xfrm>
          <a:prstGeom prst="rect">
            <a:avLst/>
          </a:prstGeom>
        </p:spPr>
      </p:pic>
      <p:sp>
        <p:nvSpPr>
          <p:cNvPr id="5" name="Marcador de contenido 2">
            <a:extLst>
              <a:ext uri="{FF2B5EF4-FFF2-40B4-BE49-F238E27FC236}">
                <a16:creationId xmlns:a16="http://schemas.microsoft.com/office/drawing/2014/main" id="{4E9DC5CF-C4A3-B954-D37D-C34178968CC3}"/>
              </a:ext>
            </a:extLst>
          </p:cNvPr>
          <p:cNvSpPr>
            <a:spLocks noGrp="1"/>
          </p:cNvSpPr>
          <p:nvPr>
            <p:ph idx="1"/>
          </p:nvPr>
        </p:nvSpPr>
        <p:spPr>
          <a:xfrm>
            <a:off x="651164" y="1764039"/>
            <a:ext cx="5225159" cy="4304251"/>
          </a:xfrm>
        </p:spPr>
        <p:txBody>
          <a:bodyPr>
            <a:noAutofit/>
          </a:bodyPr>
          <a:lstStyle/>
          <a:p>
            <a:r>
              <a:rPr lang="es-CO" sz="2000" b="1" dirty="0">
                <a:effectLst/>
                <a:latin typeface="Times New Roman" panose="02020603050405020304" pitchFamily="18" charset="0"/>
                <a:cs typeface="Times New Roman" panose="02020603050405020304" pitchFamily="18" charset="0"/>
              </a:rPr>
              <a:t>TN (True Negatives)</a:t>
            </a:r>
            <a:r>
              <a:rPr lang="es-CO" sz="2000" b="0" dirty="0">
                <a:effectLst/>
                <a:latin typeface="Times New Roman" panose="02020603050405020304" pitchFamily="18" charset="0"/>
                <a:cs typeface="Times New Roman" panose="02020603050405020304" pitchFamily="18" charset="0"/>
              </a:rPr>
              <a:t>: Número de casos correctamente clasificados como negativos (ausencia de enfermedad cardíaca).</a:t>
            </a:r>
          </a:p>
          <a:p>
            <a:r>
              <a:rPr lang="es-CO" sz="2000" b="1" dirty="0">
                <a:effectLst/>
                <a:latin typeface="Times New Roman" panose="02020603050405020304" pitchFamily="18" charset="0"/>
                <a:cs typeface="Times New Roman" panose="02020603050405020304" pitchFamily="18" charset="0"/>
              </a:rPr>
              <a:t>FP (False Positives)</a:t>
            </a:r>
            <a:r>
              <a:rPr lang="es-CO" sz="2000" b="0" dirty="0">
                <a:effectLst/>
                <a:latin typeface="Times New Roman" panose="02020603050405020304" pitchFamily="18" charset="0"/>
                <a:cs typeface="Times New Roman" panose="02020603050405020304" pitchFamily="18" charset="0"/>
              </a:rPr>
              <a:t>: Número de casos incorrectamente clasificados como positivos (presencia de enfermedad cardíaca cuando no la hay).</a:t>
            </a:r>
          </a:p>
          <a:p>
            <a:r>
              <a:rPr lang="es-CO" sz="2000" b="1" dirty="0">
                <a:effectLst/>
                <a:latin typeface="Times New Roman" panose="02020603050405020304" pitchFamily="18" charset="0"/>
                <a:cs typeface="Times New Roman" panose="02020603050405020304" pitchFamily="18" charset="0"/>
              </a:rPr>
              <a:t>FN (False Negatives)</a:t>
            </a:r>
            <a:r>
              <a:rPr lang="es-CO" sz="2000" b="0" dirty="0">
                <a:effectLst/>
                <a:latin typeface="Times New Roman" panose="02020603050405020304" pitchFamily="18" charset="0"/>
                <a:cs typeface="Times New Roman" panose="02020603050405020304" pitchFamily="18" charset="0"/>
              </a:rPr>
              <a:t>: Número de casos incorrectamente clasificados como negativos (ausencia de enfermedad cardíaca cuando sí la hay).</a:t>
            </a:r>
          </a:p>
          <a:p>
            <a:r>
              <a:rPr lang="es-CO" sz="2000" b="1" dirty="0">
                <a:effectLst/>
                <a:latin typeface="Times New Roman" panose="02020603050405020304" pitchFamily="18" charset="0"/>
                <a:cs typeface="Times New Roman" panose="02020603050405020304" pitchFamily="18" charset="0"/>
              </a:rPr>
              <a:t>TP (True Positives)</a:t>
            </a:r>
            <a:r>
              <a:rPr lang="es-CO" sz="2000" b="0" dirty="0">
                <a:effectLst/>
                <a:latin typeface="Times New Roman" panose="02020603050405020304" pitchFamily="18" charset="0"/>
                <a:cs typeface="Times New Roman" panose="02020603050405020304" pitchFamily="18" charset="0"/>
              </a:rPr>
              <a:t>: Número de casos correctamente clasificados como positivos (presencia de enfermedad cardíaca).</a:t>
            </a:r>
          </a:p>
        </p:txBody>
      </p:sp>
    </p:spTree>
    <p:extLst>
      <p:ext uri="{BB962C8B-B14F-4D97-AF65-F5344CB8AC3E}">
        <p14:creationId xmlns:p14="http://schemas.microsoft.com/office/powerpoint/2010/main" val="36098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61560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1286</Words>
  <Application>Microsoft Office PowerPoint</Application>
  <PresentationFormat>Panorámica</PresentationFormat>
  <Paragraphs>57</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Calibri</vt:lpstr>
      <vt:lpstr>Calibri Light</vt:lpstr>
      <vt:lpstr>Times New Roman</vt:lpstr>
      <vt:lpstr>Tema de Office</vt:lpstr>
      <vt:lpstr>Heart Disease Dataset</vt:lpstr>
      <vt:lpstr>Diseño del problema y del modelo</vt:lpstr>
      <vt:lpstr>Diseño del problema y del modelo</vt:lpstr>
      <vt:lpstr>Carga de datos y procesamiento</vt:lpstr>
      <vt:lpstr>Confirmación de los valores nulos</vt:lpstr>
      <vt:lpstr>Declaracion de hiperparámetros y arquitectura de la red neuronal</vt:lpstr>
      <vt:lpstr>Análisis exploratorio de datos (EDA)</vt:lpstr>
      <vt:lpstr>Análisis exploratorio de datos (EDA)</vt:lpstr>
      <vt:lpstr>Análisis exploratorio de datos (EDA)</vt:lpstr>
      <vt:lpstr>Análisis exploratorio de datos (EDA)</vt:lpstr>
      <vt:lpstr>Análisis exploratorio de datos (EDA)</vt:lpstr>
      <vt:lpstr>Análisis exploratorio de datos (EDA)</vt:lpstr>
      <vt:lpstr>Análisis exploratorio de datos (EDA)</vt:lpstr>
      <vt:lpstr>Pesos iniciales vs pesos finales</vt:lpstr>
      <vt:lpstr>Grafica de la curva del error (loss)</vt:lpstr>
      <vt:lpstr>Diferencia entre y_train y y_test</vt:lpstr>
      <vt:lpstr>Evaluación de valores de perdida y precisión (con el uso de y_test)</vt:lpstr>
      <vt:lpstr>Evaluación de valores de perdida y precisión (con el uso de y_train)</vt:lpstr>
      <vt:lpstr>Matriz de confusión (clasificación)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JUAN FELIPE AGUILAR SOTELO</dc:creator>
  <cp:lastModifiedBy>Andrés Steeven Oyuela Méndez</cp:lastModifiedBy>
  <cp:revision>25</cp:revision>
  <dcterms:created xsi:type="dcterms:W3CDTF">2018-11-30T16:08:44Z</dcterms:created>
  <dcterms:modified xsi:type="dcterms:W3CDTF">2026-04-01T00:54:24Z</dcterms:modified>
</cp:coreProperties>
</file>